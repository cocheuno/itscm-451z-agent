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4c78ca5-b8c8-a9b5-4463-62a94c313823}">
          <p14:sldIdLst>
            <p14:sldId id="256"/>
            <p14:sldId id="257"/>
            <p14:sldId id="258"/>
            <p14:sldId id="259"/>
          </p14:sldIdLst>
        </p14:section>
        <p14:section name="Part I" id="{e1ef330d-199b-2160-81fc-2f8f1016ec63}">
          <p14:sldIdLst>
            <p14:sldId id="260"/>
          </p14:sldIdLst>
        </p14:section>
        <p14:section name="Part II" id="{9cee64f2-a081-43e0-ff8f-73ee7381d62f}">
          <p14:sldIdLst>
            <p14:sldId id="261"/>
            <p14:sldId id="262"/>
            <p14:sldId id="263"/>
          </p14:sldIdLst>
        </p14:section>
        <p14:section name="Part III" id="{c5084ff1-777d-0476-d64a-874398ebc359}">
          <p14:sldIdLst>
            <p14:sldId id="264"/>
            <p14:sldId id="265"/>
          </p14:sldIdLst>
        </p14:section>
        <p14:section name="Part IV" id="{10b35143-2745-17ee-e215-7a0c9c1fc44c}">
          <p14:sldIdLst>
            <p14:sldId id="266"/>
            <p14:sldId id="267"/>
            <p14:sldId id="268"/>
          </p14:sldIdLst>
        </p14:section>
        <p14:section name="Part V" id="{9491dccb-6172-e910-00ff-b409dc77643a}">
          <p14:sldIdLst>
            <p14:sldId id="269"/>
            <p14:sldId id="270"/>
            <p14:sldId id="271"/>
            <p14:sldId id="272"/>
            <p14:sldId id="273"/>
            <p14:sldId id="274"/>
          </p14:sldIdLst>
        </p14:section>
        <p14:section name="Part VI" id="{488fa383-ddf1-6b9b-0f89-679c7d941fa4}">
          <p14:sldIdLst>
            <p14:sldId id="275"/>
            <p14:sldId id="276"/>
            <p14:sldId id="277"/>
          </p14:sldIdLst>
        </p14:section>
        <p14:section name="Part VII" id="{67fd5e4a-1246-737f-0323-c4756a5075ca}">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the whole hour: two shifts landing at once, and the course premise that an agent that cannot measure its own effect on the desk cannot be trusted with the desk. Everything named today is something the student has built or will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The fourth is the one the draft lecture lacked and the one this course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V is highlighted because it is the addition. Each section comes back to one of the six figures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a minute. Each later section names the figure it returns to: Part II is figures 1 and 2, Part IV is 4 and 5, Part V reads 3 to 5 again with the analytics table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premise: the answer is not only governance, it is analytics. An agent that cannot measure its own effect on the desk cannot be trusted with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every real deployment is a deterministic skeleton that calls agents at well-defined points and puts a human at the points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V comes back to these four boxes and puts one kind of analytics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again: the three columns are, in order, Rung 0, Rung 4, and the whole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ITIL 4 dates from 2019. The point of the third column: the student has already done one thing in every activity without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Practices replaced processes in ITIL 4’s vocabulary. The next section takes the three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mapping the student lives in Module 7. Granting the autonomous tier is an ADR plus a governance row; nothing has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habit is the hook for Part V: mapping text to services and correlating dependencies is analytics on the CMDB and the incident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but the whole shape, and why the course insists on a tag per 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vendor material leaves out and the one the course is built on. Twelve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is something the student builds. Walk the loop slide from Part II with this table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right-hand card. It is the sentence to remember if nothing else from Part V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figures 3, 4 and 5 again with the four-kinds table beside them; each box in those figures is one of the four kinds.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lived this in Module 2. Name it as a data-foundation finding, which is what a business analyst would have written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Part V. Close with the list on the right: it is the student’s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assessments as of 2026. Change management remains the least proven use case; that is a reason for incremental deployment, not avoidance.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claims as the draft stated them, dated 2026. The third card is the one to connect to the course: ADR-0008 in Module 8 writes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column is the point: none of these patterns is abstract for the student; each is a file they have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four is highlighted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for a one-student class. The third one is the most useful follow-up to Module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it as a page in the journal if time runs out. Readings: UK Government AI Insights on agentic workflow; Lansweeper on the change manager agent; Freshworks on change management best practices; AWS DevOps Agent release manager tools; Atomicwork on ITIL 4; and the repository’s COURSE_CONTEXT and governance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11091672" cy="365760"/>
          </a:xfrm>
          <a:prstGeom prst="rect">
            <a:avLst/>
          </a:prstGeom>
          <a:noFill/>
          <a:ln/>
        </p:spPr>
        <p:txBody>
          <a:bodyPr wrap="square" rtlCol="0"/>
          <a:lstStyle>
            <a:lvl1pPr indent="0" marL="0">
              <a:buNone/>
              <a:defRPr lang="en-US" sz="1300" b="1" spc="300" kern="0" dirty="0">
                <a:solidFill>
                  <a:schemeClr val="accent5"/>
                </a:solidFill>
              </a:defRPr>
            </a:lvl1pPr>
          </a:lstStyle>
          <a:p>
            <a:pPr indent="0" marL="0">
              <a:buNone/>
            </a:pPr>
            <a:endParaRPr lang="en-US" sz="1300" dirty="0"/>
          </a:p>
        </p:txBody>
      </p:sp>
      <p:sp>
        <p:nvSpPr>
          <p:cNvPr id="3" name="Text 0"/>
          <p:cNvSpPr/>
          <p:nvPr>
            <p:ph idx="101" type="title" hasCustomPrompt="1"/>
          </p:nvPr>
        </p:nvSpPr>
        <p:spPr>
          <a:xfrm>
            <a:off x="548640" y="1920240"/>
            <a:ext cx="11091672"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023360"/>
            <a:ext cx="9601200" cy="128016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5" name="Text 0"/>
          <p:cNvSpPr/>
          <p:nvPr/>
        </p:nvSpPr>
        <p:spPr>
          <a:xfrm>
            <a:off x="548640" y="6217920"/>
            <a:ext cx="11091672" cy="320040"/>
          </a:xfrm>
          <a:prstGeom prst="rect">
            <a:avLst/>
          </a:prstGeom>
          <a:noFill/>
          <a:ln/>
        </p:spPr>
        <p:txBody>
          <a:bodyPr wrap="square" lIns="0" tIns="0" rIns="0" bIns="0" rtlCol="0" anchor="ctr"/>
          <a:lstStyle/>
          <a:p>
            <a:pPr indent="0" marL="0">
              <a:buNone/>
            </a:pPr>
            <a:r>
              <a:rPr lang="en-US" sz="1100" dirty="0">
                <a:solidFill>
                  <a:srgbClr val="8A97B5"/>
                </a:solidFill>
              </a:rPr>
              <a:t>University of Wisconsin–Whitewater · Fall 2026 · 65 minutes, no terminal</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rtlCol="0"/>
          <a:lstStyle>
            <a:lvl1pPr indent="0" marL="0">
              <a:buNone/>
              <a:defRPr lang="en-US" sz="1000" dirty="0">
                <a:solidFill>
                  <a:srgbClr val="6A7179"/>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rtlCol="0"/>
          <a:lstStyle>
            <a:lvl1pPr indent="0" marL="0">
              <a:buNone/>
              <a:defRPr lang="en-US" sz="1100" b="1" spc="200" kern="0"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548640" y="685800"/>
            <a:ext cx="11091672" cy="10972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rtlCol="0"/>
          <a:lstStyle>
            <a:lvl1pPr indent="0" marL="0">
              <a:buNone/>
              <a:defRPr lang="en-US" sz="1000" dirty="0">
                <a:solidFill>
                  <a:srgbClr val="8A97B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B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C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11091672" cy="365760"/>
          </a:xfrm>
          <a:prstGeom prst="rect">
            <a:avLst/>
          </a:prstGeom>
          <a:noFill/>
          <a:ln/>
        </p:spPr>
        <p:txBody>
          <a:bodyPr wrap="square" rtlCol="0"/>
          <a:lstStyle>
            <a:lvl1pPr indent="0" marL="0">
              <a:buNone/>
              <a:defRPr lang="en-US" sz="1300" b="1" spc="300" kern="0" dirty="0">
                <a:solidFill>
                  <a:srgbClr val="D7EFEE"/>
                </a:solidFill>
              </a:defRPr>
            </a:lvl1pPr>
          </a:lstStyle>
          <a:p>
            <a:pPr indent="0" marL="0">
              <a:buNone/>
            </a:pPr>
            <a:endParaRPr lang="en-US" sz="1300" dirty="0"/>
          </a:p>
        </p:txBody>
      </p:sp>
      <p:sp>
        <p:nvSpPr>
          <p:cNvPr id="3" name="Text 0"/>
          <p:cNvSpPr/>
          <p:nvPr>
            <p:ph idx="101" type="title" hasCustomPrompt="1"/>
          </p:nvPr>
        </p:nvSpPr>
        <p:spPr>
          <a:xfrm>
            <a:off x="548640" y="2011680"/>
            <a:ext cx="1024128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389120"/>
            <a:ext cx="9601200" cy="1097280"/>
          </a:xfrm>
          <a:prstGeom prst="rect">
            <a:avLst/>
          </a:prstGeom>
          <a:noFill/>
          <a:ln/>
        </p:spPr>
        <p:txBody>
          <a:bodyPr wrap="square" rtlCol="0"/>
          <a:lstStyle>
            <a:lvl1pPr indent="0" marL="0">
              <a:buNone/>
              <a:defRPr lang="en-US" sz="1800" dirty="0">
                <a:solidFill>
                  <a:srgbClr val="D7EFEE"/>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11091672" cy="365760"/>
          </a:xfrm>
          <a:prstGeom prst="rect">
            <a:avLst/>
          </a:prstGeom>
          <a:noFill/>
          <a:ln/>
        </p:spPr>
        <p:txBody>
          <a:bodyPr wrap="square" rtlCol="0"/>
          <a:lstStyle/>
          <a:p>
            <a:pPr indent="0" marL="0">
              <a:buNone/>
            </a:pPr>
            <a:r>
              <a:rPr lang="en-US" sz="1300" b="1" spc="300" kern="0" dirty="0">
                <a:solidFill>
                  <a:schemeClr val="accent5"/>
                </a:solidFill>
              </a:rPr>
              <a:t>ITSCM 451Z · MODULE 7 · CONCEPTUAL LECTURE</a:t>
            </a:r>
            <a:endParaRPr lang="en-US" sz="1300" dirty="0"/>
          </a:p>
        </p:txBody>
      </p:sp>
      <p:sp>
        <p:nvSpPr>
          <p:cNvPr id="3" name="Text 0"/>
          <p:cNvSpPr/>
          <p:nvPr>
            <p:ph idx="101" type="title" hasCustomPrompt="1"/>
          </p:nvPr>
        </p:nvSpPr>
        <p:spPr>
          <a:xfrm>
            <a:off x="548640" y="1920240"/>
            <a:ext cx="11091672" cy="2011680"/>
          </a:xfrm>
          <a:prstGeom prst="rect">
            <a:avLst/>
          </a:prstGeom>
          <a:noFill/>
          <a:ln/>
        </p:spPr>
        <p:txBody>
          <a:bodyPr wrap="square" rtlCol="0" anchor="t"/>
          <a:lstStyle/>
          <a:p>
            <a:pPr algn="l" indent="0" marL="0">
              <a:buNone/>
            </a:pPr>
            <a:r>
              <a:rPr lang="en-US" sz="4000" b="1" dirty="0">
                <a:solidFill>
                  <a:schemeClr val="bg1"/>
                </a:solidFill>
              </a:rPr>
              <a:t>ITSM, AI agents, agentic workflows, and where analytics fits</a:t>
            </a:r>
            <a:endParaRPr lang="en-US" sz="4000" dirty="0"/>
          </a:p>
        </p:txBody>
      </p:sp>
      <p:sp>
        <p:nvSpPr>
          <p:cNvPr id="5" name="Text 0"/>
          <p:cNvSpPr/>
          <p:nvPr>
            <p:ph idx="102" type="body" hasCustomPrompt="1"/>
          </p:nvPr>
        </p:nvSpPr>
        <p:spPr>
          <a:xfrm>
            <a:off x="548640" y="4023360"/>
            <a:ext cx="9601200" cy="1280160"/>
          </a:xfrm>
          <a:prstGeom prst="rect">
            <a:avLst/>
          </a:prstGeom>
          <a:noFill/>
          <a:ln/>
        </p:spPr>
        <p:txBody>
          <a:bodyPr wrap="square" rtlCol="0" anchor="t"/>
          <a:lstStyle/>
          <a:p>
            <a:pPr indent="0" marL="0">
              <a:buNone/>
            </a:pPr>
            <a:r>
              <a:rPr lang="en-US" sz="1800" dirty="0">
                <a:solidFill>
                  <a:schemeClr val="accent4"/>
                </a:solidFill>
              </a:rPr>
              <a:t>What changes when a goal-directed program is allowed to touch a service desk, who approves it, how it is undone, and why the answer is measurement as much as governance.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OBJECTIVES</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By the end of the hour you can</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Objectives</a:t>
            </a:r>
            <a:endParaRPr lang="en-US" sz="1000" dirty="0"/>
          </a:p>
        </p:txBody>
      </p:sp>
      <p:sp>
        <p:nvSpPr>
          <p:cNvPr id="6" name="card"/>
          <p:cNvSpPr/>
          <p:nvPr/>
        </p:nvSpPr>
        <p:spPr>
          <a:xfrm>
            <a:off x="548640" y="1737360"/>
            <a:ext cx="5431536" cy="1577340"/>
          </a:xfrm>
          <a:prstGeom prst="roundRect">
            <a:avLst>
              <a:gd name="adj" fmla="val 6957"/>
            </a:avLst>
          </a:prstGeom>
          <a:solidFill>
            <a:schemeClr val="bg2"/>
          </a:solidFill>
          <a:ln w="9525">
            <a:solidFill>
              <a:srgbClr val="E3E1DA"/>
            </a:solidFill>
            <a:prstDash val="solid"/>
          </a:ln>
        </p:spPr>
      </p:sp>
      <p:sp>
        <p:nvSpPr>
          <p:cNvPr id="7" name="Text 4"/>
          <p:cNvSpPr txBox="1"/>
          <p:nvPr/>
        </p:nvSpPr>
        <p:spPr>
          <a:xfrm>
            <a:off x="749808" y="190195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1 · Define</a:t>
            </a:r>
            <a:endParaRPr lang="en-US" sz="1100" dirty="0"/>
          </a:p>
        </p:txBody>
      </p:sp>
      <p:sp>
        <p:nvSpPr>
          <p:cNvPr id="8" name="Text 5"/>
          <p:cNvSpPr txBox="1"/>
          <p:nvPr/>
        </p:nvSpPr>
        <p:spPr>
          <a:xfrm>
            <a:off x="749808" y="2194560"/>
            <a:ext cx="5029200" cy="98298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An AI agent and an agentic workflow, told apart from a script and from a fixed workflow.</a:t>
            </a:r>
            <a:endParaRPr lang="en-US" sz="1400" dirty="0"/>
          </a:p>
        </p:txBody>
      </p:sp>
      <p:sp>
        <p:nvSpPr>
          <p:cNvPr id="9" name="card"/>
          <p:cNvSpPr/>
          <p:nvPr/>
        </p:nvSpPr>
        <p:spPr>
          <a:xfrm>
            <a:off x="6208776" y="1737360"/>
            <a:ext cx="5431536" cy="1577340"/>
          </a:xfrm>
          <a:prstGeom prst="roundRect">
            <a:avLst>
              <a:gd name="adj" fmla="val 6957"/>
            </a:avLst>
          </a:prstGeom>
          <a:solidFill>
            <a:schemeClr val="bg2"/>
          </a:solidFill>
          <a:ln w="9525">
            <a:solidFill>
              <a:srgbClr val="E3E1DA"/>
            </a:solidFill>
            <a:prstDash val="solid"/>
          </a:ln>
        </p:spPr>
      </p:sp>
      <p:sp>
        <p:nvSpPr>
          <p:cNvPr id="10" name="Text 7"/>
          <p:cNvSpPr txBox="1"/>
          <p:nvPr/>
        </p:nvSpPr>
        <p:spPr>
          <a:xfrm>
            <a:off x="6409944" y="190195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2 · Describe</a:t>
            </a:r>
            <a:endParaRPr lang="en-US" sz="1100" dirty="0"/>
          </a:p>
        </p:txBody>
      </p:sp>
      <p:sp>
        <p:nvSpPr>
          <p:cNvPr id="11" name="Text 8"/>
          <p:cNvSpPr txBox="1"/>
          <p:nvPr/>
        </p:nvSpPr>
        <p:spPr>
          <a:xfrm>
            <a:off x="6409944" y="2194560"/>
            <a:ext cx="5029200" cy="98298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ITSM under ITIL 4: the value chain, the four dimensions, and the three practices that carry the rest of the course.</a:t>
            </a:r>
            <a:endParaRPr lang="en-US" sz="1400" dirty="0"/>
          </a:p>
        </p:txBody>
      </p:sp>
      <p:sp>
        <p:nvSpPr>
          <p:cNvPr id="12" name="card"/>
          <p:cNvSpPr/>
          <p:nvPr/>
        </p:nvSpPr>
        <p:spPr>
          <a:xfrm>
            <a:off x="548640" y="3543300"/>
            <a:ext cx="5431536" cy="1577340"/>
          </a:xfrm>
          <a:prstGeom prst="roundRect">
            <a:avLst>
              <a:gd name="adj" fmla="val 6957"/>
            </a:avLst>
          </a:prstGeom>
          <a:solidFill>
            <a:schemeClr val="bg2"/>
          </a:solidFill>
          <a:ln w="9525">
            <a:solidFill>
              <a:srgbClr val="E3E1DA"/>
            </a:solidFill>
            <a:prstDash val="solid"/>
          </a:ln>
        </p:spPr>
      </p:sp>
      <p:sp>
        <p:nvSpPr>
          <p:cNvPr id="13" name="Text 10"/>
          <p:cNvSpPr txBox="1"/>
          <p:nvPr/>
        </p:nvSpPr>
        <p:spPr>
          <a:xfrm>
            <a:off x="749808" y="370789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3 · Explain</a:t>
            </a:r>
            <a:endParaRPr lang="en-US" sz="1100" dirty="0"/>
          </a:p>
        </p:txBody>
      </p:sp>
      <p:sp>
        <p:nvSpPr>
          <p:cNvPr id="14" name="Text 11"/>
          <p:cNvSpPr txBox="1"/>
          <p:nvPr/>
        </p:nvSpPr>
        <p:spPr>
          <a:xfrm>
            <a:off x="749808" y="4000500"/>
            <a:ext cx="5029200" cy="98298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Why change and release are the least mature places for an agent, and the three answers: deterministic gates, human checkpoints, incremental scope.</a:t>
            </a:r>
            <a:endParaRPr lang="en-US" sz="1400" dirty="0"/>
          </a:p>
        </p:txBody>
      </p:sp>
      <p:sp>
        <p:nvSpPr>
          <p:cNvPr id="15" name="card"/>
          <p:cNvSpPr/>
          <p:nvPr/>
        </p:nvSpPr>
        <p:spPr>
          <a:xfrm>
            <a:off x="6208776" y="3543300"/>
            <a:ext cx="5431536" cy="1577340"/>
          </a:xfrm>
          <a:prstGeom prst="roundRect">
            <a:avLst>
              <a:gd name="adj" fmla="val 6957"/>
            </a:avLst>
          </a:prstGeom>
          <a:solidFill>
            <a:schemeClr val="bg2"/>
          </a:solidFill>
          <a:ln w="9525">
            <a:solidFill>
              <a:srgbClr val="E3E1DA"/>
            </a:solidFill>
            <a:prstDash val="solid"/>
          </a:ln>
        </p:spPr>
      </p:sp>
      <p:sp>
        <p:nvSpPr>
          <p:cNvPr id="16" name="Text 13"/>
          <p:cNvSpPr txBox="1"/>
          <p:nvPr/>
        </p:nvSpPr>
        <p:spPr>
          <a:xfrm>
            <a:off x="6409944" y="370789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4 · Place</a:t>
            </a:r>
            <a:endParaRPr lang="en-US" sz="1100" dirty="0"/>
          </a:p>
        </p:txBody>
      </p:sp>
      <p:sp>
        <p:nvSpPr>
          <p:cNvPr id="17" name="Text 14"/>
          <p:cNvSpPr txBox="1"/>
          <p:nvPr/>
        </p:nvSpPr>
        <p:spPr>
          <a:xfrm>
            <a:off x="6409944" y="4000500"/>
            <a:ext cx="5029200" cy="98298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The four kinds of analytics inside the agent’s loop and inside the ITIL practices, with one example of each from this course.</a:t>
            </a:r>
            <a:endParaRPr lang="en-US" sz="1400" dirty="0"/>
          </a:p>
        </p:txBody>
      </p:sp>
      <p:sp>
        <p:nvSpPr>
          <p:cNvPr id="18" name="Text 15"/>
          <p:cNvSpPr txBox="1"/>
          <p:nvPr/>
        </p:nvSpPr>
        <p:spPr>
          <a:xfrm>
            <a:off x="548640" y="5349240"/>
            <a:ext cx="11091672" cy="731520"/>
          </a:xfrm>
          <a:prstGeom prst="rect">
            <a:avLst/>
          </a:prstGeom>
          <a:noFill/>
          <a:ln/>
        </p:spPr>
        <p:txBody>
          <a:bodyPr wrap="square" lIns="0" tIns="0" rIns="0" bIns="0" rtlCol="0" anchor="t"/>
          <a:lstStyle/>
          <a:p>
            <a:pPr indent="0" marL="0">
              <a:buNone/>
            </a:pPr>
            <a:r>
              <a:rPr lang="en-US" sz="1400" b="1" dirty="0">
                <a:solidFill>
                  <a:schemeClr val="tx2"/>
                </a:solidFill>
              </a:rPr>
              <a:t>5 · Sketch </a:t>
            </a:r>
            <a:pPr indent="0" marL="0">
              <a:buNone/>
            </a:pPr>
            <a:r>
              <a:rPr lang="en-US" sz="1400" dirty="0">
                <a:solidFill>
                  <a:schemeClr val="tx2"/>
                </a:solidFill>
              </a:rPr>
              <a:t>an agentic workflow for an ITSM scenario and mark its checkpoints, guardrails, data sources, and the analytics that feed it.</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OUTLINE</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Sixty-five minutes, seven sections</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Outline</a:t>
            </a:r>
            <a:endParaRPr lang="en-US" sz="10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011680"/>
                <a:gridCol w="1097280"/>
                <a:gridCol w="7982712"/>
              </a:tblGrid>
              <a:tr h="0">
                <a:tc>
                  <a:txBody>
                    <a:bodyPr/>
                    <a:lstStyle/>
                    <a:p>
                      <a:pPr indent="0" marL="0">
                        <a:buNone/>
                      </a:pPr>
                      <a:r>
                        <a:rPr lang="en-US" sz="1400" b="1" dirty="0">
                          <a:solidFill>
                            <a:srgbClr val="F7F6F2"/>
                          </a:solidFill>
                          <a:latin typeface="Calibri" pitchFamily="34" charset="0"/>
                          <a:ea typeface="Calibri" pitchFamily="34" charset="-122"/>
                          <a:cs typeface="Calibri" pitchFamily="34" charset="-120"/>
                        </a:rPr>
                        <a:t>Minutes</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400" b="1" dirty="0">
                          <a:solidFill>
                            <a:srgbClr val="F7F6F2"/>
                          </a:solidFill>
                          <a:latin typeface="Calibri" pitchFamily="34" charset="0"/>
                          <a:ea typeface="Calibri" pitchFamily="34" charset="-122"/>
                          <a:cs typeface="Calibri" pitchFamily="34" charset="-120"/>
                        </a:rPr>
                        <a:t>Part</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400" b="1" dirty="0">
                          <a:solidFill>
                            <a:srgbClr val="F7F6F2"/>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0 to 5</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Two things changing at once</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 to 15</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II</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Agents and agentic workflows</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15 to 27</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III</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ITSM and ITIL 4</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27 to 38</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IV</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Change enablement, release management, deployment management</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38 to 50</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Where analytics fits</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50 to 58</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VI</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Agents in ITSM today, and the governance problem</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58 to 65</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VII</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Synthesis, discussion, exercise</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THE MAP</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The map for today: six figures</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Figure 1: agent vs automation vs workflow · 2: the loop · 3 to 5: incident, change, release · 6: end to end</a:t>
            </a:r>
            <a:endParaRPr lang="en-US" sz="1000" dirty="0"/>
          </a:p>
        </p:txBody>
      </p:sp>
      <p:sp>
        <p:nvSpPr>
          <p:cNvPr id="6" name="image frame"/>
          <p:cNvSpPr/>
          <p:nvPr/>
        </p:nvSpPr>
        <p:spPr>
          <a:xfrm>
            <a:off x="548640" y="1645920"/>
            <a:ext cx="11091672" cy="4572000"/>
          </a:xfrm>
          <a:prstGeom prst="rect">
            <a:avLst/>
          </a:prstGeom>
          <a:solidFill>
            <a:schemeClr val="bg2"/>
          </a:solidFill>
          <a:ln w="9525">
            <a:solidFill>
              <a:srgbClr val="E3E1DA"/>
            </a:solidFill>
            <a:prstDash val="solid"/>
          </a:ln>
        </p:spPr>
      </p:sp>
      <p:pic>
        <p:nvPicPr>
          <p:cNvPr id="7" name="Image 0" descr="/home/user/itscm-451z-agent/docs/lectures/img/itsm-agents-context.jpg">    </p:cNvPr>
          <p:cNvPicPr>
            <a:picLocks noChangeAspect="1"/>
          </p:cNvPicPr>
          <p:nvPr/>
        </p:nvPicPr>
        <p:blipFill>
          <a:blip r:embed="rId1"/>
          <a:srcRect l="0" r="0" t="0" b="0"/>
          <a:stretch/>
        </p:blipFill>
        <p:spPr>
          <a:xfrm>
            <a:off x="640080" y="1737360"/>
            <a:ext cx="10908792" cy="4389120"/>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Two things changing at once</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 · Two things changing at once</a:t>
            </a:r>
            <a:endParaRPr lang="en-US" sz="1000" dirty="0"/>
          </a:p>
        </p:txBody>
      </p:sp>
      <p:sp>
        <p:nvSpPr>
          <p:cNvPr id="6" name="card"/>
          <p:cNvSpPr/>
          <p:nvPr/>
        </p:nvSpPr>
        <p:spPr>
          <a:xfrm>
            <a:off x="548640" y="1737360"/>
            <a:ext cx="5431536" cy="2103120"/>
          </a:xfrm>
          <a:prstGeom prst="roundRect">
            <a:avLst>
              <a:gd name="adj" fmla="val 5217"/>
            </a:avLst>
          </a:prstGeom>
          <a:solidFill>
            <a:schemeClr val="bg2"/>
          </a:solidFill>
          <a:ln w="9525">
            <a:solidFill>
              <a:srgbClr val="E3E1DA"/>
            </a:solidFill>
            <a:prstDash val="solid"/>
          </a:ln>
        </p:spPr>
      </p:sp>
      <p:sp>
        <p:nvSpPr>
          <p:cNvPr id="7" name="Text 4"/>
          <p:cNvSpPr txBox="1"/>
          <p:nvPr/>
        </p:nvSpPr>
        <p:spPr>
          <a:xfrm>
            <a:off x="749808"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Service management loosened</a:t>
            </a:r>
            <a:endParaRPr lang="en-US" sz="1600" dirty="0"/>
          </a:p>
        </p:txBody>
      </p:sp>
      <p:sp>
        <p:nvSpPr>
          <p:cNvPr id="8" name="Text 5"/>
          <p:cNvSpPr txBox="1"/>
          <p:nvPr/>
        </p:nvSpPr>
        <p:spPr>
          <a:xfrm>
            <a:off x="749808" y="2359152"/>
            <a:ext cx="5029200" cy="13441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ITIL 4 (2019) replaced the gatekeeping processes of ITIL v3 with practices meant to enable value. “Change management” became “change enablement” on purpose.</a:t>
            </a:r>
            <a:endParaRPr lang="en-US" sz="1400" dirty="0"/>
          </a:p>
        </p:txBody>
      </p:sp>
      <p:sp>
        <p:nvSpPr>
          <p:cNvPr id="9" name="card"/>
          <p:cNvSpPr/>
          <p:nvPr/>
        </p:nvSpPr>
        <p:spPr>
          <a:xfrm>
            <a:off x="6208776" y="1737360"/>
            <a:ext cx="5431536" cy="2103120"/>
          </a:xfrm>
          <a:prstGeom prst="roundRect">
            <a:avLst>
              <a:gd name="adj" fmla="val 5217"/>
            </a:avLst>
          </a:prstGeom>
          <a:solidFill>
            <a:schemeClr val="bg2"/>
          </a:solidFill>
          <a:ln w="9525">
            <a:solidFill>
              <a:srgbClr val="E3E1DA"/>
            </a:solidFill>
            <a:prstDash val="solid"/>
          </a:ln>
        </p:spPr>
      </p:sp>
      <p:sp>
        <p:nvSpPr>
          <p:cNvPr id="10" name="Text 7"/>
          <p:cNvSpPr txBox="1"/>
          <p:nvPr/>
        </p:nvSpPr>
        <p:spPr>
          <a:xfrm>
            <a:off x="6409944"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Automation became goal-directed</a:t>
            </a:r>
            <a:endParaRPr lang="en-US" sz="1600" dirty="0"/>
          </a:p>
        </p:txBody>
      </p:sp>
      <p:sp>
        <p:nvSpPr>
          <p:cNvPr id="11" name="Text 8"/>
          <p:cNvSpPr txBox="1"/>
          <p:nvPr/>
        </p:nvSpPr>
        <p:spPr>
          <a:xfrm>
            <a:off x="6409944" y="2359152"/>
            <a:ext cx="5029200" cy="13441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 script does what it is told, in order. An AI agent is given a goal and a set of tools and decides the steps itself.</a:t>
            </a:r>
            <a:endParaRPr lang="en-US" sz="1400" dirty="0"/>
          </a:p>
        </p:txBody>
      </p:sp>
      <p:sp>
        <p:nvSpPr>
          <p:cNvPr id="12" name="callout"/>
          <p:cNvSpPr/>
          <p:nvPr/>
        </p:nvSpPr>
        <p:spPr>
          <a:xfrm>
            <a:off x="548640" y="4114800"/>
            <a:ext cx="11091672" cy="1737360"/>
          </a:xfrm>
          <a:prstGeom prst="roundRect">
            <a:avLst>
              <a:gd name="adj" fmla="val 6316"/>
            </a:avLst>
          </a:prstGeom>
          <a:solidFill>
            <a:srgbClr val="14213D"/>
          </a:solidFill>
          <a:ln w="12700">
            <a:solidFill>
              <a:srgbClr val="14213D"/>
            </a:solidFill>
            <a:prstDash val="solid"/>
          </a:ln>
        </p:spPr>
      </p:sp>
      <p:sp>
        <p:nvSpPr>
          <p:cNvPr id="13" name="Text 10"/>
          <p:cNvSpPr txBox="1"/>
          <p:nvPr/>
        </p:nvSpPr>
        <p:spPr>
          <a:xfrm>
            <a:off x="822960" y="4251960"/>
            <a:ext cx="10543032" cy="1463040"/>
          </a:xfrm>
          <a:prstGeom prst="rect">
            <a:avLst/>
          </a:prstGeom>
          <a:noFill/>
          <a:ln/>
        </p:spPr>
        <p:txBody>
          <a:bodyPr wrap="square" lIns="0" tIns="0" rIns="0" bIns="0" rtlCol="0" anchor="ctr"/>
          <a:lstStyle/>
          <a:p>
            <a:pPr indent="0" marL="0">
              <a:buNone/>
            </a:pPr>
            <a:r>
              <a:rPr lang="en-US" sz="1500" b="1" dirty="0">
                <a:solidFill>
                  <a:srgbClr val="F7F6F2"/>
                </a:solidFill>
              </a:rPr>
              <a:t>The question the course is built around: </a:t>
            </a:r>
            <a:pPr indent="0" marL="0">
              <a:buNone/>
            </a:pPr>
            <a:r>
              <a:rPr lang="en-US" sz="1500" dirty="0">
                <a:solidFill>
                  <a:srgbClr val="F7F6F2"/>
                </a:solidFill>
              </a:rPr>
              <a:t>who approves an agent’s decision to change a production system, how is the decision recorded, and how is it undone? That is the design of the registry, the approval queue, and the before-image in Module 7.</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II · FIGURE 1</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Three kinds of program, three rungs of this course</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II · Agents and agentic workflows</a:t>
            </a:r>
            <a:endParaRPr lang="en-US" sz="1000" dirty="0"/>
          </a:p>
        </p:txBody>
      </p:sp>
      <p:sp>
        <p:nvSpPr>
          <p:cNvPr id="6" name="card"/>
          <p:cNvSpPr/>
          <p:nvPr/>
        </p:nvSpPr>
        <p:spPr>
          <a:xfrm>
            <a:off x="548640" y="1737360"/>
            <a:ext cx="3544824" cy="3017520"/>
          </a:xfrm>
          <a:prstGeom prst="roundRect">
            <a:avLst>
              <a:gd name="adj" fmla="val 3636"/>
            </a:avLst>
          </a:prstGeom>
          <a:solidFill>
            <a:schemeClr val="bg2"/>
          </a:solidFill>
          <a:ln w="9525">
            <a:solidFill>
              <a:srgbClr val="E3E1DA"/>
            </a:solidFill>
            <a:prstDash val="solid"/>
          </a:ln>
        </p:spPr>
      </p:sp>
      <p:sp>
        <p:nvSpPr>
          <p:cNvPr id="7" name="Text 4"/>
          <p:cNvSpPr txBox="1"/>
          <p:nvPr/>
        </p:nvSpPr>
        <p:spPr>
          <a:xfrm>
            <a:off x="749808"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Traditional automation</a:t>
            </a:r>
            <a:endParaRPr lang="en-US" sz="1600" dirty="0"/>
          </a:p>
        </p:txBody>
      </p:sp>
      <p:sp>
        <p:nvSpPr>
          <p:cNvPr id="8" name="Text 5"/>
          <p:cNvSpPr txBox="1"/>
          <p:nvPr/>
        </p:nvSpPr>
        <p:spPr>
          <a:xfrm>
            <a:off x="749808" y="2359152"/>
            <a:ext cx="3142488" cy="225856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Predefined rules, a fixed sequence, minimal decision-making. Reliable, auditable, blind to anything the rules did not anticipate.</a:t>
            </a:r>
            <a:endParaRPr lang="en-US" sz="1300" dirty="0"/>
          </a:p>
          <a:p>
            <a:pPr indent="0" marL="0">
              <a:spcAft>
                <a:spcPts val="400"/>
              </a:spcAft>
              <a:buNone/>
            </a:pPr>
            <a:r>
              <a:rPr lang="en-US" sz="1300" b="1" dirty="0">
                <a:solidFill>
                  <a:srgbClr val="0E7C7B"/>
                </a:solidFill>
              </a:rPr>
              <a:t>Here: the Rung 0 poller</a:t>
            </a:r>
            <a:endParaRPr lang="en-US" sz="1300" dirty="0"/>
          </a:p>
        </p:txBody>
      </p:sp>
      <p:sp>
        <p:nvSpPr>
          <p:cNvPr id="9" name="card"/>
          <p:cNvSpPr/>
          <p:nvPr/>
        </p:nvSpPr>
        <p:spPr>
          <a:xfrm>
            <a:off x="4322064" y="1737360"/>
            <a:ext cx="3544824" cy="3017520"/>
          </a:xfrm>
          <a:prstGeom prst="roundRect">
            <a:avLst>
              <a:gd name="adj" fmla="val 3636"/>
            </a:avLst>
          </a:prstGeom>
          <a:solidFill>
            <a:schemeClr val="bg2"/>
          </a:solidFill>
          <a:ln w="9525">
            <a:solidFill>
              <a:srgbClr val="E3E1DA"/>
            </a:solidFill>
            <a:prstDash val="solid"/>
          </a:ln>
        </p:spPr>
      </p:sp>
      <p:sp>
        <p:nvSpPr>
          <p:cNvPr id="10" name="Text 7"/>
          <p:cNvSpPr txBox="1"/>
          <p:nvPr/>
        </p:nvSpPr>
        <p:spPr>
          <a:xfrm>
            <a:off x="4523232"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AI agent</a:t>
            </a:r>
            <a:endParaRPr lang="en-US" sz="1600" dirty="0"/>
          </a:p>
        </p:txBody>
      </p:sp>
      <p:sp>
        <p:nvSpPr>
          <p:cNvPr id="11" name="Text 8"/>
          <p:cNvSpPr txBox="1"/>
          <p:nvPr/>
        </p:nvSpPr>
        <p:spPr>
          <a:xfrm>
            <a:off x="4523232" y="2359152"/>
            <a:ext cx="3142488" cy="225856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Driven by a language model. Perceives, chooses among actions, uses tools, adapts. Autonomy within limits, goal orientation.</a:t>
            </a:r>
            <a:endParaRPr lang="en-US" sz="1300" dirty="0"/>
          </a:p>
          <a:p>
            <a:pPr indent="0" marL="0">
              <a:spcAft>
                <a:spcPts val="400"/>
              </a:spcAft>
              <a:buNone/>
            </a:pPr>
            <a:r>
              <a:rPr lang="en-US" sz="1300" b="1" dirty="0">
                <a:solidFill>
                  <a:srgbClr val="0E7C7B"/>
                </a:solidFill>
              </a:rPr>
              <a:t>Here: the model in the loop, Rung 4</a:t>
            </a:r>
            <a:endParaRPr lang="en-US" sz="1300" dirty="0"/>
          </a:p>
        </p:txBody>
      </p:sp>
      <p:sp>
        <p:nvSpPr>
          <p:cNvPr id="12" name="card"/>
          <p:cNvSpPr/>
          <p:nvPr/>
        </p:nvSpPr>
        <p:spPr>
          <a:xfrm>
            <a:off x="8095488" y="1737360"/>
            <a:ext cx="3544824" cy="3017520"/>
          </a:xfrm>
          <a:prstGeom prst="roundRect">
            <a:avLst>
              <a:gd name="adj" fmla="val 3636"/>
            </a:avLst>
          </a:prstGeom>
          <a:solidFill>
            <a:schemeClr val="bg2"/>
          </a:solidFill>
          <a:ln w="9525">
            <a:solidFill>
              <a:srgbClr val="E3E1DA"/>
            </a:solidFill>
            <a:prstDash val="solid"/>
          </a:ln>
        </p:spPr>
      </p:sp>
      <p:sp>
        <p:nvSpPr>
          <p:cNvPr id="13" name="Text 10"/>
          <p:cNvSpPr txBox="1"/>
          <p:nvPr/>
        </p:nvSpPr>
        <p:spPr>
          <a:xfrm>
            <a:off x="8296656"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Agentic workflow</a:t>
            </a:r>
            <a:endParaRPr lang="en-US" sz="1600" dirty="0"/>
          </a:p>
        </p:txBody>
      </p:sp>
      <p:sp>
        <p:nvSpPr>
          <p:cNvPr id="14" name="Text 11"/>
          <p:cNvSpPr txBox="1"/>
          <p:nvPr/>
        </p:nvSpPr>
        <p:spPr>
          <a:xfrm>
            <a:off x="8296656" y="2359152"/>
            <a:ext cx="3142488" cy="225856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 defined overall flow with decision points; agents, people and systems act at set steps. The flow is fixed; a step may be dynamic.</a:t>
            </a:r>
            <a:endParaRPr lang="en-US" sz="1300" dirty="0"/>
          </a:p>
          <a:p>
            <a:pPr indent="0" marL="0">
              <a:spcAft>
                <a:spcPts val="400"/>
              </a:spcAft>
              <a:buNone/>
            </a:pPr>
            <a:r>
              <a:rPr lang="en-US" sz="1300" b="1" dirty="0">
                <a:solidFill>
                  <a:srgbClr val="0E7C7B"/>
                </a:solidFill>
              </a:rPr>
              <a:t>Here: the whole repository</a:t>
            </a:r>
            <a:endParaRPr lang="en-US" sz="1300" dirty="0"/>
          </a:p>
        </p:txBody>
      </p:sp>
      <p:sp>
        <p:nvSpPr>
          <p:cNvPr id="15" name="Text 12"/>
          <p:cNvSpPr txBox="1"/>
          <p:nvPr/>
        </p:nvSpPr>
        <p:spPr>
          <a:xfrm>
            <a:off x="548640" y="5029200"/>
            <a:ext cx="11091672" cy="914400"/>
          </a:xfrm>
          <a:prstGeom prst="rect">
            <a:avLst/>
          </a:prstGeom>
          <a:noFill/>
          <a:ln/>
        </p:spPr>
        <p:txBody>
          <a:bodyPr wrap="square" lIns="0" tIns="0" rIns="0" bIns="0" rtlCol="0" anchor="t"/>
          <a:lstStyle/>
          <a:p>
            <a:pPr indent="0" marL="0">
              <a:buNone/>
            </a:pPr>
            <a:r>
              <a:rPr lang="en-US" sz="1400" dirty="0">
                <a:solidFill>
                  <a:schemeClr val="tx2"/>
                </a:solidFill>
              </a:rPr>
              <a:t>The distinction that matters for ITSM is </a:t>
            </a:r>
            <a:pPr indent="0" marL="0">
              <a:buNone/>
            </a:pPr>
            <a:r>
              <a:rPr lang="en-US" sz="1400" b="1" dirty="0">
                <a:solidFill>
                  <a:schemeClr val="tx2"/>
                </a:solidFill>
              </a:rPr>
              <a:t>predictability versus adaptability</a:t>
            </a:r>
            <a:pPr indent="0" marL="0">
              <a:buNone/>
            </a:pPr>
            <a:r>
              <a:rPr lang="en-US" sz="1400" dirty="0">
                <a:solidFill>
                  <a:schemeClr val="tx2"/>
                </a:solidFill>
              </a:rPr>
              <a:t>. You want both, and you want to know at every step which one you are using.</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II · FIGURE 2</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The loop an agent runs</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II · Agents and agentic workflows</a:t>
            </a:r>
            <a:endParaRPr lang="en-US" sz="1000" dirty="0"/>
          </a:p>
        </p:txBody>
      </p:sp>
      <p:sp>
        <p:nvSpPr>
          <p:cNvPr id="6" name="loop box"/>
          <p:cNvSpPr/>
          <p:nvPr/>
        </p:nvSpPr>
        <p:spPr>
          <a:xfrm>
            <a:off x="548640" y="1783080"/>
            <a:ext cx="2331720" cy="1463040"/>
          </a:xfrm>
          <a:prstGeom prst="roundRect">
            <a:avLst>
              <a:gd name="adj" fmla="val 7500"/>
            </a:avLst>
          </a:prstGeom>
          <a:solidFill>
            <a:schemeClr val="tx1"/>
          </a:solidFill>
          <a:ln w="12700">
            <a:solidFill>
              <a:schemeClr val="tx1"/>
            </a:solidFill>
            <a:prstDash val="solid"/>
          </a:ln>
        </p:spPr>
      </p:sp>
      <p:sp>
        <p:nvSpPr>
          <p:cNvPr id="7" name="Text 4"/>
          <p:cNvSpPr txBox="1"/>
          <p:nvPr/>
        </p:nvSpPr>
        <p:spPr>
          <a:xfrm>
            <a:off x="731520" y="1874520"/>
            <a:ext cx="1965960" cy="411480"/>
          </a:xfrm>
          <a:prstGeom prst="rect">
            <a:avLst/>
          </a:prstGeom>
          <a:noFill/>
          <a:ln/>
        </p:spPr>
        <p:txBody>
          <a:bodyPr wrap="square" lIns="0" tIns="0" rIns="0" bIns="0" rtlCol="0" anchor="ctr"/>
          <a:lstStyle/>
          <a:p>
            <a:pPr indent="0" marL="0">
              <a:buNone/>
            </a:pPr>
            <a:r>
              <a:rPr lang="en-US" sz="1800" b="1" dirty="0">
                <a:solidFill>
                  <a:srgbClr val="F7F6F2"/>
                </a:solidFill>
              </a:rPr>
              <a:t>Perceive</a:t>
            </a:r>
            <a:endParaRPr lang="en-US" sz="1800" dirty="0"/>
          </a:p>
        </p:txBody>
      </p:sp>
      <p:sp>
        <p:nvSpPr>
          <p:cNvPr id="8" name="Text 5"/>
          <p:cNvSpPr txBox="1"/>
          <p:nvPr/>
        </p:nvSpPr>
        <p:spPr>
          <a:xfrm>
            <a:off x="731520" y="2286000"/>
            <a:ext cx="1965960" cy="868680"/>
          </a:xfrm>
          <a:prstGeom prst="rect">
            <a:avLst/>
          </a:prstGeom>
          <a:noFill/>
          <a:ln/>
        </p:spPr>
        <p:txBody>
          <a:bodyPr wrap="square" lIns="0" tIns="0" rIns="0" bIns="0" rtlCol="0" anchor="t"/>
          <a:lstStyle/>
          <a:p>
            <a:pPr indent="0" marL="0">
              <a:buNone/>
            </a:pPr>
            <a:r>
              <a:rPr lang="en-US" sz="1200" dirty="0">
                <a:solidFill>
                  <a:srgbClr val="BFD8D5"/>
                </a:solidFill>
              </a:rPr>
              <a:t>Tickets, system data, user context, alerts</a:t>
            </a:r>
            <a:endParaRPr lang="en-US" sz="1200" dirty="0"/>
          </a:p>
        </p:txBody>
      </p:sp>
      <p:sp>
        <p:nvSpPr>
          <p:cNvPr id="9" name="arrow"/>
          <p:cNvSpPr/>
          <p:nvPr/>
        </p:nvSpPr>
        <p:spPr>
          <a:xfrm>
            <a:off x="2971800" y="2331720"/>
            <a:ext cx="405384" cy="365760"/>
          </a:xfrm>
          <a:prstGeom prst="rightArrow">
            <a:avLst/>
          </a:prstGeom>
          <a:solidFill>
            <a:schemeClr val="accent1"/>
          </a:solidFill>
          <a:ln w="12700">
            <a:solidFill>
              <a:schemeClr val="accent1"/>
            </a:solidFill>
            <a:prstDash val="solid"/>
          </a:ln>
        </p:spPr>
      </p:sp>
      <p:sp>
        <p:nvSpPr>
          <p:cNvPr id="10" name="loop box"/>
          <p:cNvSpPr/>
          <p:nvPr/>
        </p:nvSpPr>
        <p:spPr>
          <a:xfrm>
            <a:off x="3468624" y="1783080"/>
            <a:ext cx="2331720" cy="1463040"/>
          </a:xfrm>
          <a:prstGeom prst="roundRect">
            <a:avLst>
              <a:gd name="adj" fmla="val 7500"/>
            </a:avLst>
          </a:prstGeom>
          <a:solidFill>
            <a:schemeClr val="tx1"/>
          </a:solidFill>
          <a:ln w="12700">
            <a:solidFill>
              <a:schemeClr val="tx1"/>
            </a:solidFill>
            <a:prstDash val="solid"/>
          </a:ln>
        </p:spPr>
      </p:sp>
      <p:sp>
        <p:nvSpPr>
          <p:cNvPr id="11" name="Text 8"/>
          <p:cNvSpPr txBox="1"/>
          <p:nvPr/>
        </p:nvSpPr>
        <p:spPr>
          <a:xfrm>
            <a:off x="3651504" y="1874520"/>
            <a:ext cx="1965960" cy="411480"/>
          </a:xfrm>
          <a:prstGeom prst="rect">
            <a:avLst/>
          </a:prstGeom>
          <a:noFill/>
          <a:ln/>
        </p:spPr>
        <p:txBody>
          <a:bodyPr wrap="square" lIns="0" tIns="0" rIns="0" bIns="0" rtlCol="0" anchor="ctr"/>
          <a:lstStyle/>
          <a:p>
            <a:pPr indent="0" marL="0">
              <a:buNone/>
            </a:pPr>
            <a:r>
              <a:rPr lang="en-US" sz="1800" b="1" dirty="0">
                <a:solidFill>
                  <a:srgbClr val="F7F6F2"/>
                </a:solidFill>
              </a:rPr>
              <a:t>Plan</a:t>
            </a:r>
            <a:endParaRPr lang="en-US" sz="1800" dirty="0"/>
          </a:p>
        </p:txBody>
      </p:sp>
      <p:sp>
        <p:nvSpPr>
          <p:cNvPr id="12" name="Text 9"/>
          <p:cNvSpPr txBox="1"/>
          <p:nvPr/>
        </p:nvSpPr>
        <p:spPr>
          <a:xfrm>
            <a:off x="3651504" y="2286000"/>
            <a:ext cx="1965960" cy="868680"/>
          </a:xfrm>
          <a:prstGeom prst="rect">
            <a:avLst/>
          </a:prstGeom>
          <a:noFill/>
          <a:ln/>
        </p:spPr>
        <p:txBody>
          <a:bodyPr wrap="square" lIns="0" tIns="0" rIns="0" bIns="0" rtlCol="0" anchor="t"/>
          <a:lstStyle/>
          <a:p>
            <a:pPr indent="0" marL="0">
              <a:buNone/>
            </a:pPr>
            <a:r>
              <a:rPr lang="en-US" sz="1200" dirty="0">
                <a:solidFill>
                  <a:srgbClr val="BFD8D5"/>
                </a:solidFill>
              </a:rPr>
              <a:t>Decide the next step</a:t>
            </a:r>
            <a:endParaRPr lang="en-US" sz="1200" dirty="0"/>
          </a:p>
        </p:txBody>
      </p:sp>
      <p:sp>
        <p:nvSpPr>
          <p:cNvPr id="13" name="arrow"/>
          <p:cNvSpPr/>
          <p:nvPr/>
        </p:nvSpPr>
        <p:spPr>
          <a:xfrm>
            <a:off x="5891784" y="2331720"/>
            <a:ext cx="405384" cy="365760"/>
          </a:xfrm>
          <a:prstGeom prst="rightArrow">
            <a:avLst/>
          </a:prstGeom>
          <a:solidFill>
            <a:schemeClr val="accent1"/>
          </a:solidFill>
          <a:ln w="12700">
            <a:solidFill>
              <a:schemeClr val="accent1"/>
            </a:solidFill>
            <a:prstDash val="solid"/>
          </a:ln>
        </p:spPr>
      </p:sp>
      <p:sp>
        <p:nvSpPr>
          <p:cNvPr id="14" name="loop box"/>
          <p:cNvSpPr/>
          <p:nvPr/>
        </p:nvSpPr>
        <p:spPr>
          <a:xfrm>
            <a:off x="6388608" y="1783080"/>
            <a:ext cx="2331720" cy="1463040"/>
          </a:xfrm>
          <a:prstGeom prst="roundRect">
            <a:avLst>
              <a:gd name="adj" fmla="val 7500"/>
            </a:avLst>
          </a:prstGeom>
          <a:solidFill>
            <a:schemeClr val="tx1"/>
          </a:solidFill>
          <a:ln w="12700">
            <a:solidFill>
              <a:schemeClr val="tx1"/>
            </a:solidFill>
            <a:prstDash val="solid"/>
          </a:ln>
        </p:spPr>
      </p:sp>
      <p:sp>
        <p:nvSpPr>
          <p:cNvPr id="15" name="Text 12"/>
          <p:cNvSpPr txBox="1"/>
          <p:nvPr/>
        </p:nvSpPr>
        <p:spPr>
          <a:xfrm>
            <a:off x="6571488" y="1874520"/>
            <a:ext cx="1965960" cy="411480"/>
          </a:xfrm>
          <a:prstGeom prst="rect">
            <a:avLst/>
          </a:prstGeom>
          <a:noFill/>
          <a:ln/>
        </p:spPr>
        <p:txBody>
          <a:bodyPr wrap="square" lIns="0" tIns="0" rIns="0" bIns="0" rtlCol="0" anchor="ctr"/>
          <a:lstStyle/>
          <a:p>
            <a:pPr indent="0" marL="0">
              <a:buNone/>
            </a:pPr>
            <a:r>
              <a:rPr lang="en-US" sz="1800" b="1" dirty="0">
                <a:solidFill>
                  <a:srgbClr val="F7F6F2"/>
                </a:solidFill>
              </a:rPr>
              <a:t>Act</a:t>
            </a:r>
            <a:endParaRPr lang="en-US" sz="1800" dirty="0"/>
          </a:p>
        </p:txBody>
      </p:sp>
      <p:sp>
        <p:nvSpPr>
          <p:cNvPr id="16" name="Text 13"/>
          <p:cNvSpPr txBox="1"/>
          <p:nvPr/>
        </p:nvSpPr>
        <p:spPr>
          <a:xfrm>
            <a:off x="6571488" y="2286000"/>
            <a:ext cx="1965960" cy="868680"/>
          </a:xfrm>
          <a:prstGeom prst="rect">
            <a:avLst/>
          </a:prstGeom>
          <a:noFill/>
          <a:ln/>
        </p:spPr>
        <p:txBody>
          <a:bodyPr wrap="square" lIns="0" tIns="0" rIns="0" bIns="0" rtlCol="0" anchor="t"/>
          <a:lstStyle/>
          <a:p>
            <a:pPr indent="0" marL="0">
              <a:buNone/>
            </a:pPr>
            <a:r>
              <a:rPr lang="en-US" sz="1200" dirty="0">
                <a:solidFill>
                  <a:srgbClr val="BFD8D5"/>
                </a:solidFill>
              </a:rPr>
              <a:t>Call a tool: the ITSM platform, monitoring, a repository, a message</a:t>
            </a:r>
            <a:endParaRPr lang="en-US" sz="1200" dirty="0"/>
          </a:p>
        </p:txBody>
      </p:sp>
      <p:sp>
        <p:nvSpPr>
          <p:cNvPr id="17" name="arrow"/>
          <p:cNvSpPr/>
          <p:nvPr/>
        </p:nvSpPr>
        <p:spPr>
          <a:xfrm>
            <a:off x="8811768" y="2331720"/>
            <a:ext cx="405384" cy="365760"/>
          </a:xfrm>
          <a:prstGeom prst="rightArrow">
            <a:avLst/>
          </a:prstGeom>
          <a:solidFill>
            <a:schemeClr val="accent1"/>
          </a:solidFill>
          <a:ln w="12700">
            <a:solidFill>
              <a:schemeClr val="accent1"/>
            </a:solidFill>
            <a:prstDash val="solid"/>
          </a:ln>
        </p:spPr>
      </p:sp>
      <p:sp>
        <p:nvSpPr>
          <p:cNvPr id="18" name="loop box"/>
          <p:cNvSpPr/>
          <p:nvPr/>
        </p:nvSpPr>
        <p:spPr>
          <a:xfrm>
            <a:off x="9308592" y="1783080"/>
            <a:ext cx="2331720" cy="1463040"/>
          </a:xfrm>
          <a:prstGeom prst="roundRect">
            <a:avLst>
              <a:gd name="adj" fmla="val 7500"/>
            </a:avLst>
          </a:prstGeom>
          <a:solidFill>
            <a:schemeClr val="tx1"/>
          </a:solidFill>
          <a:ln w="12700">
            <a:solidFill>
              <a:schemeClr val="tx1"/>
            </a:solidFill>
            <a:prstDash val="solid"/>
          </a:ln>
        </p:spPr>
      </p:sp>
      <p:sp>
        <p:nvSpPr>
          <p:cNvPr id="19" name="Text 16"/>
          <p:cNvSpPr txBox="1"/>
          <p:nvPr/>
        </p:nvSpPr>
        <p:spPr>
          <a:xfrm>
            <a:off x="9491472" y="1874520"/>
            <a:ext cx="1965960" cy="411480"/>
          </a:xfrm>
          <a:prstGeom prst="rect">
            <a:avLst/>
          </a:prstGeom>
          <a:noFill/>
          <a:ln/>
        </p:spPr>
        <p:txBody>
          <a:bodyPr wrap="square" lIns="0" tIns="0" rIns="0" bIns="0" rtlCol="0" anchor="ctr"/>
          <a:lstStyle/>
          <a:p>
            <a:pPr indent="0" marL="0">
              <a:buNone/>
            </a:pPr>
            <a:r>
              <a:rPr lang="en-US" sz="1800" b="1" dirty="0">
                <a:solidFill>
                  <a:srgbClr val="F7F6F2"/>
                </a:solidFill>
              </a:rPr>
              <a:t>Learn</a:t>
            </a:r>
            <a:endParaRPr lang="en-US" sz="1800" dirty="0"/>
          </a:p>
        </p:txBody>
      </p:sp>
      <p:sp>
        <p:nvSpPr>
          <p:cNvPr id="20" name="Text 17"/>
          <p:cNvSpPr txBox="1"/>
          <p:nvPr/>
        </p:nvSpPr>
        <p:spPr>
          <a:xfrm>
            <a:off x="9491472" y="2286000"/>
            <a:ext cx="1965960" cy="868680"/>
          </a:xfrm>
          <a:prstGeom prst="rect">
            <a:avLst/>
          </a:prstGeom>
          <a:noFill/>
          <a:ln/>
        </p:spPr>
        <p:txBody>
          <a:bodyPr wrap="square" lIns="0" tIns="0" rIns="0" bIns="0" rtlCol="0" anchor="t"/>
          <a:lstStyle/>
          <a:p>
            <a:pPr indent="0" marL="0">
              <a:buNone/>
            </a:pPr>
            <a:r>
              <a:rPr lang="en-US" sz="1200" dirty="0">
                <a:solidFill>
                  <a:srgbClr val="BFD8D5"/>
                </a:solidFill>
              </a:rPr>
              <a:t>Adjust from the result</a:t>
            </a:r>
            <a:endParaRPr lang="en-US" sz="1200" dirty="0"/>
          </a:p>
        </p:txBody>
      </p:sp>
      <p:sp>
        <p:nvSpPr>
          <p:cNvPr id="21" name="card"/>
          <p:cNvSpPr/>
          <p:nvPr/>
        </p:nvSpPr>
        <p:spPr>
          <a:xfrm>
            <a:off x="548640" y="3611880"/>
            <a:ext cx="5431536" cy="2103120"/>
          </a:xfrm>
          <a:prstGeom prst="roundRect">
            <a:avLst>
              <a:gd name="adj" fmla="val 5217"/>
            </a:avLst>
          </a:prstGeom>
          <a:solidFill>
            <a:schemeClr val="bg2"/>
          </a:solidFill>
          <a:ln w="9525">
            <a:solidFill>
              <a:srgbClr val="E3E1DA"/>
            </a:solidFill>
            <a:prstDash val="solid"/>
          </a:ln>
        </p:spPr>
      </p:sp>
      <p:sp>
        <p:nvSpPr>
          <p:cNvPr id="22" name="Text 19"/>
          <p:cNvSpPr txBox="1"/>
          <p:nvPr/>
        </p:nvSpPr>
        <p:spPr>
          <a:xfrm>
            <a:off x="749808" y="3776472"/>
            <a:ext cx="5029200" cy="411480"/>
          </a:xfrm>
          <a:prstGeom prst="rect">
            <a:avLst/>
          </a:prstGeom>
          <a:noFill/>
          <a:ln/>
        </p:spPr>
        <p:txBody>
          <a:bodyPr wrap="square" lIns="0" tIns="0" rIns="0" bIns="0" rtlCol="0" anchor="t"/>
          <a:lstStyle/>
          <a:p>
            <a:pPr indent="0" marL="0">
              <a:buNone/>
            </a:pPr>
            <a:r>
              <a:rPr lang="en-US" sz="1600" b="1" dirty="0">
                <a:solidFill>
                  <a:schemeClr val="tx1"/>
                </a:solidFill>
              </a:rPr>
              <a:t>Three phases of every agentic workflow</a:t>
            </a:r>
            <a:endParaRPr lang="en-US" sz="1600" dirty="0"/>
          </a:p>
        </p:txBody>
      </p:sp>
      <p:sp>
        <p:nvSpPr>
          <p:cNvPr id="23" name="Text 20"/>
          <p:cNvSpPr txBox="1"/>
          <p:nvPr/>
        </p:nvSpPr>
        <p:spPr>
          <a:xfrm>
            <a:off x="749808" y="4233672"/>
            <a:ext cx="5029200" cy="13441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Planning: interpret the goal, choose a strategy. Execution: act through tools. Iterative adaptation: evaluate, revise, </a:t>
            </a:r>
            <a:pPr indent="0" marL="0">
              <a:spcAft>
                <a:spcPts val="400"/>
              </a:spcAft>
              <a:buNone/>
            </a:pPr>
            <a:r>
              <a:rPr lang="en-US" sz="1400" b="1" dirty="0">
                <a:solidFill>
                  <a:schemeClr val="tx2"/>
                </a:solidFill>
              </a:rPr>
              <a:t>escalate</a:t>
            </a:r>
            <a:pPr indent="0" marL="0">
              <a:spcAft>
                <a:spcPts val="400"/>
              </a:spcAft>
              <a:buNone/>
            </a:pPr>
            <a:r>
              <a:rPr lang="en-US" sz="1400" dirty="0">
                <a:solidFill>
                  <a:schemeClr val="tx2"/>
                </a:solidFill>
              </a:rPr>
              <a:t>.</a:t>
            </a:r>
            <a:endParaRPr lang="en-US" sz="1400" dirty="0"/>
          </a:p>
        </p:txBody>
      </p:sp>
      <p:sp>
        <p:nvSpPr>
          <p:cNvPr id="24" name="card"/>
          <p:cNvSpPr/>
          <p:nvPr/>
        </p:nvSpPr>
        <p:spPr>
          <a:xfrm>
            <a:off x="6208776" y="3611880"/>
            <a:ext cx="5431536" cy="2103120"/>
          </a:xfrm>
          <a:prstGeom prst="roundRect">
            <a:avLst>
              <a:gd name="adj" fmla="val 5217"/>
            </a:avLst>
          </a:prstGeom>
          <a:solidFill>
            <a:schemeClr val="accent3"/>
          </a:solidFill>
          <a:ln w="9525">
            <a:solidFill>
              <a:srgbClr val="BFD8D5"/>
            </a:solidFill>
            <a:prstDash val="solid"/>
          </a:ln>
        </p:spPr>
      </p:sp>
      <p:sp>
        <p:nvSpPr>
          <p:cNvPr id="25" name="Text 22"/>
          <p:cNvSpPr txBox="1"/>
          <p:nvPr/>
        </p:nvSpPr>
        <p:spPr>
          <a:xfrm>
            <a:off x="6409944" y="3776472"/>
            <a:ext cx="5029200" cy="411480"/>
          </a:xfrm>
          <a:prstGeom prst="rect">
            <a:avLst/>
          </a:prstGeom>
          <a:noFill/>
          <a:ln/>
        </p:spPr>
        <p:txBody>
          <a:bodyPr wrap="square" lIns="0" tIns="0" rIns="0" bIns="0" rtlCol="0" anchor="t"/>
          <a:lstStyle/>
          <a:p>
            <a:pPr indent="0" marL="0">
              <a:buNone/>
            </a:pPr>
            <a:r>
              <a:rPr lang="en-US" sz="1600" b="1" dirty="0">
                <a:solidFill>
                  <a:schemeClr val="tx1"/>
                </a:solidFill>
              </a:rPr>
              <a:t>The word to keep: escalate</a:t>
            </a:r>
            <a:endParaRPr lang="en-US" sz="1600" dirty="0"/>
          </a:p>
        </p:txBody>
      </p:sp>
      <p:sp>
        <p:nvSpPr>
          <p:cNvPr id="26" name="Text 23"/>
          <p:cNvSpPr txBox="1"/>
          <p:nvPr/>
        </p:nvSpPr>
        <p:spPr>
          <a:xfrm>
            <a:off x="6409944" y="4233672"/>
            <a:ext cx="5029200" cy="13441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An agent that cannot say “I am not sure, a person should look” is not safe to run.</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II · IN THIS COURSE</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The registry is the skeleton; the model only chooses a door</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II · Agents and agentic workflows</a:t>
            </a:r>
            <a:endParaRPr lang="en-US" sz="1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3108960"/>
                <a:gridCol w="4206240"/>
                <a:gridCol w="3776472"/>
              </a:tblGrid>
              <a:tr h="0">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Piece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Fixed or dynamic</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One door, four tiers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Every tool call passes through dispatch; the tier comes from the schema file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Fixed: a caller cannot pick a branch</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tools behind the door</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Read, propose, assign, resolve, comment; each checks its target</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Fixed: deterministic Python</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model (Rung 4)</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Given a ticket and the tool schemas, decides which tool to call</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Dynamic: it chooses which door, never what is behind one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two logs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Audit entries and proposals, append-only</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Fixed: every branch writes one, refusals included</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bl>
          </a:graphicData>
        </a:graphic>
      </p:graphicFrame>
      <p:sp>
        <p:nvSpPr>
          <p:cNvPr id="7" name="Text 3"/>
          <p:cNvSpPr txBox="1"/>
          <p:nvPr/>
        </p:nvSpPr>
        <p:spPr>
          <a:xfrm>
            <a:off x="548640" y="4846320"/>
            <a:ext cx="11091672" cy="1097280"/>
          </a:xfrm>
          <a:prstGeom prst="rect">
            <a:avLst/>
          </a:prstGeom>
          <a:noFill/>
          <a:ln/>
        </p:spPr>
        <p:txBody>
          <a:bodyPr wrap="square" lIns="0" tIns="0" rIns="0" bIns="0" rtlCol="0" anchor="t"/>
          <a:lstStyle/>
          <a:p>
            <a:pPr indent="0" marL="0">
              <a:buNone/>
            </a:pPr>
            <a:r>
              <a:rPr lang="en-US" sz="1400" dirty="0">
                <a:solidFill>
                  <a:schemeClr val="tx2"/>
                </a:solidFill>
              </a:rPr>
              <a:t>A workflow gives you an execution path you can audit before it runs. An agent gives you the ability to handle a ticket nobody wrote a rule for. The repository is the first wrapped around the second.</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III</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ITIL 4’s service value chain, and where you have already met it</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III · ITSM and ITIL 4</a:t>
            </a:r>
            <a:endParaRPr lang="en-US" sz="1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560320"/>
                <a:gridCol w="4023360"/>
                <a:gridCol w="4507992"/>
              </a:tblGrid>
              <a:tr h="0">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Activity</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In this course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Plan</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Strategy and direction</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COURSE_CONTEXT’s capability ladder</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Engage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Understand what stakeholders need</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SLA page (Module 3)</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Design and transition</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Create and change services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Every ADR; the model pin (Module 4)</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Obtain and build</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Acquire or build components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Training a classifier (Modules 3 and 4)</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Deliver and support</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Run the service, resolve incidents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poller, the read tools, the write tools</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Improve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Measure and improve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eval harness; the KPIs (Module 8)</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bl>
          </a:graphicData>
        </a:graphic>
      </p:graphicFrame>
      <p:sp>
        <p:nvSpPr>
          <p:cNvPr id="7" name="Text 3"/>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300" dirty="0">
                <a:solidFill>
                  <a:schemeClr val="tx2"/>
                </a:solidFill>
              </a:rPr>
              <a:t>ITSM is the management of technology </a:t>
            </a:r>
            <a:pPr indent="0" marL="0">
              <a:buNone/>
            </a:pPr>
            <a:r>
              <a:rPr lang="en-US" sz="1300" i="1" dirty="0">
                <a:solidFill>
                  <a:schemeClr val="tx2"/>
                </a:solidFill>
              </a:rPr>
              <a:t>as a service</a:t>
            </a:r>
            <a:pPr indent="0" marL="0">
              <a:buNone/>
            </a:pPr>
            <a:r>
              <a:rPr lang="en-US" sz="1300" dirty="0">
                <a:solidFill>
                  <a:schemeClr val="tx2"/>
                </a:solidFill>
              </a:rPr>
              <a:t>, with customers, targets and costs. ITIL 4 is the current edition of the most widely used framework for it; the six activities are not a sequence.</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III</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Four dimensions, three practices</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III · ITSM and ITIL 4</a:t>
            </a:r>
            <a:endParaRPr lang="en-US" sz="1000" dirty="0"/>
          </a:p>
        </p:txBody>
      </p:sp>
      <p:sp>
        <p:nvSpPr>
          <p:cNvPr id="6" name="card"/>
          <p:cNvSpPr/>
          <p:nvPr/>
        </p:nvSpPr>
        <p:spPr>
          <a:xfrm>
            <a:off x="548640" y="1737360"/>
            <a:ext cx="5431536" cy="4389120"/>
          </a:xfrm>
          <a:prstGeom prst="roundRect">
            <a:avLst>
              <a:gd name="adj" fmla="val 2500"/>
            </a:avLst>
          </a:prstGeom>
          <a:solidFill>
            <a:schemeClr val="bg2"/>
          </a:solidFill>
          <a:ln w="9525">
            <a:solidFill>
              <a:srgbClr val="E3E1DA"/>
            </a:solidFill>
            <a:prstDash val="solid"/>
          </a:ln>
        </p:spPr>
      </p:sp>
      <p:sp>
        <p:nvSpPr>
          <p:cNvPr id="7" name="Text 4"/>
          <p:cNvSpPr txBox="1"/>
          <p:nvPr/>
        </p:nvSpPr>
        <p:spPr>
          <a:xfrm>
            <a:off x="749808"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Any service, from four sides at once</a:t>
            </a:r>
            <a:endParaRPr lang="en-US" sz="1600" dirty="0"/>
          </a:p>
        </p:txBody>
      </p:sp>
      <p:sp>
        <p:nvSpPr>
          <p:cNvPr id="8" name="Text 5"/>
          <p:cNvSpPr txBox="1"/>
          <p:nvPr/>
        </p:nvSpPr>
        <p:spPr>
          <a:xfrm>
            <a:off x="749808" y="2359152"/>
            <a:ext cx="5029200" cy="363016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Organizations and people</a:t>
            </a:r>
            <a:endParaRPr lang="en-US" sz="1300" dirty="0"/>
          </a:p>
          <a:p>
            <a:pPr marL="342900" indent="-342900">
              <a:spcAft>
                <a:spcPts val="400"/>
              </a:spcAft>
              <a:buSzPct val="100000"/>
              <a:buChar char="•"/>
            </a:pPr>
            <a:r>
              <a:rPr lang="en-US" sz="1400" dirty="0">
                <a:solidFill>
                  <a:schemeClr val="tx2"/>
                </a:solidFill>
              </a:rPr>
              <a:t>Information and technology</a:t>
            </a:r>
            <a:endParaRPr lang="en-US" sz="1300" dirty="0"/>
          </a:p>
          <a:p>
            <a:pPr marL="342900" indent="-342900">
              <a:spcAft>
                <a:spcPts val="400"/>
              </a:spcAft>
              <a:buSzPct val="100000"/>
              <a:buChar char="•"/>
            </a:pPr>
            <a:r>
              <a:rPr lang="en-US" sz="1400" dirty="0">
                <a:solidFill>
                  <a:schemeClr val="tx2"/>
                </a:solidFill>
              </a:rPr>
              <a:t>Partners and suppliers</a:t>
            </a:r>
            <a:endParaRPr lang="en-US" sz="1300" dirty="0"/>
          </a:p>
          <a:p>
            <a:pPr marL="342900" indent="-342900">
              <a:spcAft>
                <a:spcPts val="400"/>
              </a:spcAft>
              <a:buSzPct val="100000"/>
              <a:buChar char="•"/>
            </a:pPr>
            <a:r>
              <a:rPr lang="en-US" sz="1400" dirty="0">
                <a:solidFill>
                  <a:schemeClr val="tx2"/>
                </a:solidFill>
              </a:rPr>
              <a:t>Value streams and processes</a:t>
            </a:r>
            <a:endParaRPr lang="en-US" sz="1300" dirty="0"/>
          </a:p>
          <a:p>
            <a:pPr indent="0" marL="0">
              <a:spcAft>
                <a:spcPts val="400"/>
              </a:spcAft>
              <a:buNone/>
            </a:pPr>
            <a:endParaRPr lang="en-US" sz="1300" dirty="0"/>
          </a:p>
          <a:p>
            <a:pPr indent="0" marL="0">
              <a:spcAft>
                <a:spcPts val="400"/>
              </a:spcAft>
              <a:buNone/>
            </a:pPr>
            <a:r>
              <a:rPr lang="en-US" sz="1300" dirty="0">
                <a:solidFill>
                  <a:schemeClr val="tx2"/>
                </a:solidFill>
              </a:rPr>
              <a:t>An agent touches all four: it is technology, it changes who does what, it is usually supplied by a vendor, and it sits inside a value stream. Consider only the second and the deployment fails on the other three.</a:t>
            </a:r>
            <a:endParaRPr lang="en-US" sz="1300" dirty="0"/>
          </a:p>
        </p:txBody>
      </p:sp>
      <p:sp>
        <p:nvSpPr>
          <p:cNvPr id="9" name="card"/>
          <p:cNvSpPr/>
          <p:nvPr/>
        </p:nvSpPr>
        <p:spPr>
          <a:xfrm>
            <a:off x="6208776" y="1737360"/>
            <a:ext cx="5431536" cy="4389120"/>
          </a:xfrm>
          <a:prstGeom prst="roundRect">
            <a:avLst>
              <a:gd name="adj" fmla="val 2500"/>
            </a:avLst>
          </a:prstGeom>
          <a:solidFill>
            <a:schemeClr val="bg2"/>
          </a:solidFill>
          <a:ln w="9525">
            <a:solidFill>
              <a:srgbClr val="E3E1DA"/>
            </a:solidFill>
            <a:prstDash val="solid"/>
          </a:ln>
        </p:spPr>
      </p:sp>
      <p:sp>
        <p:nvSpPr>
          <p:cNvPr id="10" name="Text 7"/>
          <p:cNvSpPr txBox="1"/>
          <p:nvPr/>
        </p:nvSpPr>
        <p:spPr>
          <a:xfrm>
            <a:off x="6409944"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The practices that carry the rest of the hour</a:t>
            </a:r>
            <a:endParaRPr lang="en-US" sz="1600" dirty="0"/>
          </a:p>
        </p:txBody>
      </p:sp>
      <p:graphicFrame>
        <p:nvGraphicFramePr>
          <p:cNvPr id="11" name="practices table"/>
          <p:cNvGraphicFramePr>
            <a:graphicFrameLocks noGrp="1"/>
          </p:cNvGraphicFramePr>
          <p:nvPr>
            <p:extLst>
              <p:ext uri="{D42A27DB-BD31-4B8C-83A1-F6EECF244321}">
                <p14:modId xmlns:p14="http://schemas.microsoft.com/office/powerpoint/2010/main" val="1579011935"/>
              </p:ext>
            </p:extLst>
          </p:nvPr>
        </p:nvGraphicFramePr>
        <p:xfrm>
          <a:off x="6409944" y="2514600"/>
          <a:ext cx="5029200" cy="914400"/>
        </p:xfrm>
        <a:graphic>
          <a:graphicData uri="http://schemas.openxmlformats.org/drawingml/2006/table">
            <a:tbl>
              <a:tblPr/>
              <a:tblGrid>
                <a:gridCol w="2103120"/>
                <a:gridCol w="2926080"/>
              </a:tblGrid>
              <a:tr h="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Practice</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E6F2F1"/>
                    </a:solidFill>
                  </a:tcPr>
                </a:tc>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E6F2F1"/>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Change enablement</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Assess risk, authorize changes to proceed</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Release management</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Make new and changed services available</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Deployment management</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Move components into live environments</a:t>
                      </a:r>
                      <a:endParaRPr lang="en-US" sz="1200" dirty="0">
                        <a:latin typeface="Calibri" charset="0"/>
                        <a:ea typeface="Calibri" charset="0"/>
                        <a:cs typeface="Calibri" charset="0"/>
                      </a:endParaRPr>
                    </a:p>
                  </a:txBody>
                  <a:tcPr marL="101600" marR="101600" marT="50800" marB="50800">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tcPr>
                </a:tc>
              </a:tr>
            </a:tbl>
          </a:graphicData>
        </a:graphic>
      </p:graphicFrame>
      <p:sp>
        <p:nvSpPr>
          <p:cNvPr id="12" name="Text 8"/>
          <p:cNvSpPr txBox="1"/>
          <p:nvPr/>
        </p:nvSpPr>
        <p:spPr>
          <a:xfrm>
            <a:off x="6409944" y="4937760"/>
            <a:ext cx="5029200" cy="914400"/>
          </a:xfrm>
          <a:prstGeom prst="rect">
            <a:avLst/>
          </a:prstGeom>
          <a:noFill/>
          <a:ln/>
        </p:spPr>
        <p:txBody>
          <a:bodyPr wrap="square" lIns="0" tIns="0" rIns="0" bIns="0" rtlCol="0" anchor="t"/>
          <a:lstStyle/>
          <a:p>
            <a:pPr indent="0" marL="0">
              <a:buNone/>
            </a:pPr>
            <a:r>
              <a:rPr lang="en-US" sz="1300" dirty="0">
                <a:solidFill>
                  <a:schemeClr val="tx2"/>
                </a:solidFill>
              </a:rPr>
              <a:t>Related and distinct. Confusing them is a common source of unclear ownership.</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IV · FIGURE 4</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Three change types are the three write tiers</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IV · Change enablement, release, deployment</a:t>
            </a:r>
            <a:endParaRPr lang="en-US" sz="10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554480"/>
                <a:gridCol w="3657600"/>
                <a:gridCol w="2651760"/>
                <a:gridCol w="3227832"/>
              </a:tblGrid>
              <a:tr h="0">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Who approves</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In the agent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Pre-approved, repeatable, low risk: monthly patching, a standard laptop</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Nobody each time; the type was approved once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autonomous: no tool has it; nothing has earned it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Needs assessment and approval; most of the pipeline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The CAB or a delegated authority</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execute_with_approval: a named person approves this exact call, once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Emergency</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Urgent, expedited; reviewed afterwards</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Emergency CAB or named authority</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Not granted: the audit log is the review, but nothing acts first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Change record</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The written description before the change is made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propose: the agent drafts, a human makes it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bl>
          </a:graphicData>
        </a:graphic>
      </p:graphicFrame>
      <p:sp>
        <p:nvSpPr>
          <p:cNvPr id="7" name="Text 3"/>
          <p:cNvSpPr txBox="1"/>
          <p:nvPr/>
        </p:nvSpPr>
        <p:spPr>
          <a:xfrm>
            <a:off x="548640" y="4297680"/>
            <a:ext cx="11091672" cy="1188720"/>
          </a:xfrm>
          <a:prstGeom prst="rect">
            <a:avLst/>
          </a:prstGeom>
          <a:noFill/>
          <a:ln/>
        </p:spPr>
        <p:txBody>
          <a:bodyPr wrap="square" lIns="0" tIns="0" rIns="0" bIns="0" rtlCol="0" anchor="t"/>
          <a:lstStyle/>
          <a:p>
            <a:pPr indent="0" marL="0">
              <a:buNone/>
            </a:pPr>
            <a:r>
              <a:rPr lang="en-US" sz="1300" dirty="0">
                <a:solidFill>
                  <a:schemeClr val="tx2"/>
                </a:solidFill>
              </a:rPr>
              <a:t>Purpose of change enablement: </a:t>
            </a:r>
            <a:pPr indent="0" marL="0">
              <a:buNone/>
            </a:pPr>
            <a:r>
              <a:rPr lang="en-US" sz="1300" b="1" dirty="0">
                <a:solidFill>
                  <a:schemeClr val="tx2"/>
                </a:solidFill>
              </a:rPr>
              <a:t>maximize the number of successful changes</a:t>
            </a:r>
            <a:pPr indent="0" marL="0">
              <a:buNone/>
            </a:pPr>
            <a:r>
              <a:rPr lang="en-US" sz="1300" dirty="0">
                <a:solidFill>
                  <a:schemeClr val="tx2"/>
                </a:solidFill>
              </a:rPr>
              <a:t> by assessing risk, authorizing, and managing the schedule. The before-image is the back-out plan the CAB keeps asking for. The six rows in the desk’s change history are reviewed in Module 8: was “successful” true for all of them?</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IV</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The CAB problem, and the four habits that answer it</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IV · Change enablement, release, deployment</a:t>
            </a:r>
            <a:endParaRPr lang="en-US" sz="1000" dirty="0"/>
          </a:p>
        </p:txBody>
      </p:sp>
      <p:sp>
        <p:nvSpPr>
          <p:cNvPr id="6" name="card"/>
          <p:cNvSpPr/>
          <p:nvPr/>
        </p:nvSpPr>
        <p:spPr>
          <a:xfrm>
            <a:off x="548640" y="1737360"/>
            <a:ext cx="2601468" cy="1600200"/>
          </a:xfrm>
          <a:prstGeom prst="roundRect">
            <a:avLst>
              <a:gd name="adj" fmla="val 6857"/>
            </a:avLst>
          </a:prstGeom>
          <a:solidFill>
            <a:schemeClr val="bg2"/>
          </a:solidFill>
          <a:ln w="9525">
            <a:solidFill>
              <a:srgbClr val="E3E1DA"/>
            </a:solidFill>
            <a:prstDash val="solid"/>
          </a:ln>
        </p:spPr>
      </p:sp>
      <p:sp>
        <p:nvSpPr>
          <p:cNvPr id="7" name="Text 4"/>
          <p:cNvSpPr txBox="1"/>
          <p:nvPr/>
        </p:nvSpPr>
        <p:spPr>
          <a:xfrm>
            <a:off x="749808" y="1901952"/>
            <a:ext cx="2199132" cy="320040"/>
          </a:xfrm>
          <a:prstGeom prst="rect">
            <a:avLst/>
          </a:prstGeom>
          <a:noFill/>
          <a:ln/>
        </p:spPr>
        <p:txBody>
          <a:bodyPr wrap="square" lIns="0" tIns="0" rIns="0" bIns="0" rtlCol="0" anchor="t"/>
          <a:lstStyle/>
          <a:p>
            <a:pPr indent="0" marL="0">
              <a:buNone/>
            </a:pPr>
            <a:r>
              <a:rPr lang="en-US" sz="1400" b="1" dirty="0">
                <a:solidFill>
                  <a:schemeClr val="accent2"/>
                </a:solidFill>
              </a:rPr>
              <a:t>Too many changes</a:t>
            </a:r>
            <a:endParaRPr lang="en-US" sz="1400" dirty="0"/>
          </a:p>
        </p:txBody>
      </p:sp>
      <p:sp>
        <p:nvSpPr>
          <p:cNvPr id="8" name="Text 5"/>
          <p:cNvSpPr txBox="1"/>
          <p:nvPr/>
        </p:nvSpPr>
        <p:spPr>
          <a:xfrm>
            <a:off x="749808" y="2267712"/>
            <a:ext cx="2199132" cy="93268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risky one slips through a cursory look.</a:t>
            </a:r>
            <a:endParaRPr lang="en-US" sz="1300" dirty="0"/>
          </a:p>
        </p:txBody>
      </p:sp>
      <p:sp>
        <p:nvSpPr>
          <p:cNvPr id="9" name="card"/>
          <p:cNvSpPr/>
          <p:nvPr/>
        </p:nvSpPr>
        <p:spPr>
          <a:xfrm>
            <a:off x="3378708" y="1737360"/>
            <a:ext cx="2601468" cy="1600200"/>
          </a:xfrm>
          <a:prstGeom prst="roundRect">
            <a:avLst>
              <a:gd name="adj" fmla="val 6857"/>
            </a:avLst>
          </a:prstGeom>
          <a:solidFill>
            <a:schemeClr val="bg2"/>
          </a:solidFill>
          <a:ln w="9525">
            <a:solidFill>
              <a:srgbClr val="E3E1DA"/>
            </a:solidFill>
            <a:prstDash val="solid"/>
          </a:ln>
        </p:spPr>
      </p:sp>
      <p:sp>
        <p:nvSpPr>
          <p:cNvPr id="10" name="Text 7"/>
          <p:cNvSpPr txBox="1"/>
          <p:nvPr/>
        </p:nvSpPr>
        <p:spPr>
          <a:xfrm>
            <a:off x="3579876" y="1901952"/>
            <a:ext cx="2199132" cy="320040"/>
          </a:xfrm>
          <a:prstGeom prst="rect">
            <a:avLst/>
          </a:prstGeom>
          <a:noFill/>
          <a:ln/>
        </p:spPr>
        <p:txBody>
          <a:bodyPr wrap="square" lIns="0" tIns="0" rIns="0" bIns="0" rtlCol="0" anchor="t"/>
          <a:lstStyle/>
          <a:p>
            <a:pPr indent="0" marL="0">
              <a:buNone/>
            </a:pPr>
            <a:r>
              <a:rPr lang="en-US" sz="1400" b="1" dirty="0">
                <a:solidFill>
                  <a:schemeClr val="accent2"/>
                </a:solidFill>
              </a:rPr>
              <a:t>Incomplete records</a:t>
            </a:r>
            <a:endParaRPr lang="en-US" sz="1400" dirty="0"/>
          </a:p>
        </p:txBody>
      </p:sp>
      <p:sp>
        <p:nvSpPr>
          <p:cNvPr id="11" name="Text 8"/>
          <p:cNvSpPr txBox="1"/>
          <p:nvPr/>
        </p:nvSpPr>
        <p:spPr>
          <a:xfrm>
            <a:off x="3579876" y="2267712"/>
            <a:ext cx="2199132" cy="93268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No credible back-out plan, no test evidence.</a:t>
            </a:r>
            <a:endParaRPr lang="en-US" sz="1300" dirty="0"/>
          </a:p>
        </p:txBody>
      </p:sp>
      <p:sp>
        <p:nvSpPr>
          <p:cNvPr id="12" name="card"/>
          <p:cNvSpPr/>
          <p:nvPr/>
        </p:nvSpPr>
        <p:spPr>
          <a:xfrm>
            <a:off x="6208776" y="1737360"/>
            <a:ext cx="2601468" cy="1600200"/>
          </a:xfrm>
          <a:prstGeom prst="roundRect">
            <a:avLst>
              <a:gd name="adj" fmla="val 6857"/>
            </a:avLst>
          </a:prstGeom>
          <a:solidFill>
            <a:schemeClr val="bg2"/>
          </a:solidFill>
          <a:ln w="9525">
            <a:solidFill>
              <a:srgbClr val="E3E1DA"/>
            </a:solidFill>
            <a:prstDash val="solid"/>
          </a:ln>
        </p:spPr>
      </p:sp>
      <p:sp>
        <p:nvSpPr>
          <p:cNvPr id="13" name="Text 10"/>
          <p:cNvSpPr txBox="1"/>
          <p:nvPr/>
        </p:nvSpPr>
        <p:spPr>
          <a:xfrm>
            <a:off x="6409944" y="1901952"/>
            <a:ext cx="2199132" cy="320040"/>
          </a:xfrm>
          <a:prstGeom prst="rect">
            <a:avLst/>
          </a:prstGeom>
          <a:noFill/>
          <a:ln/>
        </p:spPr>
        <p:txBody>
          <a:bodyPr wrap="square" lIns="0" tIns="0" rIns="0" bIns="0" rtlCol="0" anchor="t"/>
          <a:lstStyle/>
          <a:p>
            <a:pPr indent="0" marL="0">
              <a:buNone/>
            </a:pPr>
            <a:r>
              <a:rPr lang="en-US" sz="1400" b="1" dirty="0">
                <a:solidFill>
                  <a:schemeClr val="accent2"/>
                </a:solidFill>
              </a:rPr>
              <a:t>Manual reconciliation</a:t>
            </a:r>
            <a:endParaRPr lang="en-US" sz="1400" dirty="0"/>
          </a:p>
        </p:txBody>
      </p:sp>
      <p:sp>
        <p:nvSpPr>
          <p:cNvPr id="14" name="Text 11"/>
          <p:cNvSpPr txBox="1"/>
          <p:nvPr/>
        </p:nvSpPr>
        <p:spPr>
          <a:xfrm>
            <a:off x="6409944" y="2267712"/>
            <a:ext cx="2199132" cy="93268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Hours cross-referencing incidents, criticality, dependencies.</a:t>
            </a:r>
            <a:endParaRPr lang="en-US" sz="1300" dirty="0"/>
          </a:p>
        </p:txBody>
      </p:sp>
      <p:sp>
        <p:nvSpPr>
          <p:cNvPr id="15" name="card"/>
          <p:cNvSpPr/>
          <p:nvPr/>
        </p:nvSpPr>
        <p:spPr>
          <a:xfrm>
            <a:off x="9038844" y="1737360"/>
            <a:ext cx="2601468" cy="1600200"/>
          </a:xfrm>
          <a:prstGeom prst="roundRect">
            <a:avLst>
              <a:gd name="adj" fmla="val 6857"/>
            </a:avLst>
          </a:prstGeom>
          <a:solidFill>
            <a:schemeClr val="bg2"/>
          </a:solidFill>
          <a:ln w="9525">
            <a:solidFill>
              <a:srgbClr val="E3E1DA"/>
            </a:solidFill>
            <a:prstDash val="solid"/>
          </a:ln>
        </p:spPr>
      </p:sp>
      <p:sp>
        <p:nvSpPr>
          <p:cNvPr id="16" name="Text 13"/>
          <p:cNvSpPr txBox="1"/>
          <p:nvPr/>
        </p:nvSpPr>
        <p:spPr>
          <a:xfrm>
            <a:off x="9240012" y="1901952"/>
            <a:ext cx="2199132" cy="320040"/>
          </a:xfrm>
          <a:prstGeom prst="rect">
            <a:avLst/>
          </a:prstGeom>
          <a:noFill/>
          <a:ln/>
        </p:spPr>
        <p:txBody>
          <a:bodyPr wrap="square" lIns="0" tIns="0" rIns="0" bIns="0" rtlCol="0" anchor="t"/>
          <a:lstStyle/>
          <a:p>
            <a:pPr indent="0" marL="0">
              <a:buNone/>
            </a:pPr>
            <a:r>
              <a:rPr lang="en-US" sz="1400" b="1" dirty="0">
                <a:solidFill>
                  <a:schemeClr val="accent2"/>
                </a:solidFill>
              </a:rPr>
              <a:t>Fatigue</a:t>
            </a:r>
            <a:endParaRPr lang="en-US" sz="1400" dirty="0"/>
          </a:p>
        </p:txBody>
      </p:sp>
      <p:sp>
        <p:nvSpPr>
          <p:cNvPr id="17" name="Text 14"/>
          <p:cNvSpPr txBox="1"/>
          <p:nvPr/>
        </p:nvSpPr>
        <p:spPr>
          <a:xfrm>
            <a:off x="9240012" y="2267712"/>
            <a:ext cx="2199132" cy="93268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Decisions get worse as the meeting gets longer.</a:t>
            </a:r>
            <a:endParaRPr lang="en-US" sz="1300" dirty="0"/>
          </a:p>
        </p:txBody>
      </p:sp>
      <p:sp>
        <p:nvSpPr>
          <p:cNvPr id="18" name="card"/>
          <p:cNvSpPr/>
          <p:nvPr/>
        </p:nvSpPr>
        <p:spPr>
          <a:xfrm>
            <a:off x="548640" y="3566160"/>
            <a:ext cx="11091672" cy="2560320"/>
          </a:xfrm>
          <a:prstGeom prst="roundRect">
            <a:avLst>
              <a:gd name="adj" fmla="val 4286"/>
            </a:avLst>
          </a:prstGeom>
          <a:solidFill>
            <a:schemeClr val="accent3"/>
          </a:solidFill>
          <a:ln w="9525">
            <a:solidFill>
              <a:srgbClr val="BFD8D5"/>
            </a:solidFill>
            <a:prstDash val="solid"/>
          </a:ln>
        </p:spPr>
      </p:sp>
      <p:sp>
        <p:nvSpPr>
          <p:cNvPr id="19" name="Text 16"/>
          <p:cNvSpPr txBox="1"/>
          <p:nvPr/>
        </p:nvSpPr>
        <p:spPr>
          <a:xfrm>
            <a:off x="749808" y="3730752"/>
            <a:ext cx="10689336" cy="411480"/>
          </a:xfrm>
          <a:prstGeom prst="rect">
            <a:avLst/>
          </a:prstGeom>
          <a:noFill/>
          <a:ln/>
        </p:spPr>
        <p:txBody>
          <a:bodyPr wrap="square" lIns="0" tIns="0" rIns="0" bIns="0" rtlCol="0" anchor="t"/>
          <a:lstStyle/>
          <a:p>
            <a:pPr indent="0" marL="0">
              <a:buNone/>
            </a:pPr>
            <a:r>
              <a:rPr lang="en-US" sz="1600" b="1" dirty="0">
                <a:solidFill>
                  <a:schemeClr val="tx1"/>
                </a:solidFill>
              </a:rPr>
              <a:t>Modern guidance</a:t>
            </a:r>
            <a:endParaRPr lang="en-US" sz="1600" dirty="0"/>
          </a:p>
        </p:txBody>
      </p:sp>
      <p:sp>
        <p:nvSpPr>
          <p:cNvPr id="20" name="Text 17"/>
          <p:cNvSpPr txBox="1"/>
          <p:nvPr/>
        </p:nvSpPr>
        <p:spPr>
          <a:xfrm>
            <a:off x="749808" y="4187952"/>
            <a:ext cx="10689336" cy="1801368"/>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tx2"/>
                </a:solidFill>
              </a:rPr>
              <a:t>Anchor every change to a business service, not only a configuration item.</a:t>
            </a:r>
            <a:endParaRPr lang="en-US" sz="1300" dirty="0"/>
          </a:p>
          <a:p>
            <a:pPr marL="342900" indent="-342900">
              <a:spcAft>
                <a:spcPts val="400"/>
              </a:spcAft>
              <a:buSzPct val="100000"/>
              <a:buFont typeface="+mj-lt"/>
              <a:buAutoNum type="arabicPeriod" startAt="1"/>
            </a:pPr>
            <a:r>
              <a:rPr lang="en-US" sz="1400" dirty="0">
                <a:solidFill>
                  <a:schemeClr val="tx2"/>
                </a:solidFill>
              </a:rPr>
              <a:t>Tiered risk rules by service criticality, with multipliers for concurrent changes.</a:t>
            </a:r>
            <a:endParaRPr lang="en-US" sz="1300" dirty="0"/>
          </a:p>
          <a:p>
            <a:pPr marL="342900" indent="-342900">
              <a:spcAft>
                <a:spcPts val="400"/>
              </a:spcAft>
              <a:buSzPct val="100000"/>
              <a:buFont typeface="+mj-lt"/>
              <a:buAutoNum type="arabicPeriod" startAt="1"/>
            </a:pPr>
            <a:r>
              <a:rPr lang="en-US" sz="1400" dirty="0">
                <a:solidFill>
                  <a:schemeClr val="tx2"/>
                </a:solidFill>
              </a:rPr>
              <a:t>Graduate proven procedures from normal to standard, on evidence.</a:t>
            </a:r>
            <a:endParaRPr lang="en-US" sz="1300" dirty="0"/>
          </a:p>
          <a:p>
            <a:pPr marL="342900" indent="-342900">
              <a:spcAft>
                <a:spcPts val="400"/>
              </a:spcAft>
              <a:buSzPct val="100000"/>
              <a:buFont typeface="+mj-lt"/>
              <a:buAutoNum type="arabicPeriod" startAt="1"/>
            </a:pPr>
            <a:r>
              <a:rPr lang="en-US" sz="1400" dirty="0">
                <a:solidFill>
                  <a:schemeClr val="tx2"/>
                </a:solidFill>
              </a:rPr>
              <a:t>Use AI to map raw text to services and correlate dependencies. A data task before it is an agent task.</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IV · FIGURE 5</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A tag is a release; a pull is a deployment</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IV · Change enablement, release, deployment</a:t>
            </a:r>
            <a:endParaRPr lang="en-US" sz="1000" dirty="0"/>
          </a:p>
        </p:txBody>
      </p:sp>
      <p:sp>
        <p:nvSpPr>
          <p:cNvPr id="6" name="card"/>
          <p:cNvSpPr/>
          <p:nvPr/>
        </p:nvSpPr>
        <p:spPr>
          <a:xfrm>
            <a:off x="548640" y="1737360"/>
            <a:ext cx="5431536" cy="2194560"/>
          </a:xfrm>
          <a:prstGeom prst="roundRect">
            <a:avLst>
              <a:gd name="adj" fmla="val 5000"/>
            </a:avLst>
          </a:prstGeom>
          <a:solidFill>
            <a:schemeClr val="bg2"/>
          </a:solidFill>
          <a:ln w="9525">
            <a:solidFill>
              <a:srgbClr val="E3E1DA"/>
            </a:solidFill>
            <a:prstDash val="solid"/>
          </a:ln>
        </p:spPr>
      </p:sp>
      <p:sp>
        <p:nvSpPr>
          <p:cNvPr id="7" name="Text 4"/>
          <p:cNvSpPr txBox="1"/>
          <p:nvPr/>
        </p:nvSpPr>
        <p:spPr>
          <a:xfrm>
            <a:off x="749808"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Release management</a:t>
            </a:r>
            <a:endParaRPr lang="en-US" sz="1600" dirty="0"/>
          </a:p>
        </p:txBody>
      </p:sp>
      <p:sp>
        <p:nvSpPr>
          <p:cNvPr id="8" name="Text 5"/>
          <p:cNvSpPr txBox="1"/>
          <p:nvPr/>
        </p:nvSpPr>
        <p:spPr>
          <a:xfrm>
            <a:off x="749808" y="2359152"/>
            <a:ext cx="5029200" cy="14356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 release is one or more changes built, tested and deployed together. The practice plans, schedules and controls the whole, technical and non-technical, and protects what is already running. In DevOps settings: small, frequent, often staged with a pilot.</a:t>
            </a:r>
            <a:endParaRPr lang="en-US" sz="1300" dirty="0"/>
          </a:p>
        </p:txBody>
      </p:sp>
      <p:sp>
        <p:nvSpPr>
          <p:cNvPr id="9" name="card"/>
          <p:cNvSpPr/>
          <p:nvPr/>
        </p:nvSpPr>
        <p:spPr>
          <a:xfrm>
            <a:off x="6208776" y="1737360"/>
            <a:ext cx="5431536" cy="2194560"/>
          </a:xfrm>
          <a:prstGeom prst="roundRect">
            <a:avLst>
              <a:gd name="adj" fmla="val 5000"/>
            </a:avLst>
          </a:prstGeom>
          <a:solidFill>
            <a:schemeClr val="bg2"/>
          </a:solidFill>
          <a:ln w="9525">
            <a:solidFill>
              <a:srgbClr val="E3E1DA"/>
            </a:solidFill>
            <a:prstDash val="solid"/>
          </a:ln>
        </p:spPr>
      </p:sp>
      <p:sp>
        <p:nvSpPr>
          <p:cNvPr id="10" name="Text 7"/>
          <p:cNvSpPr txBox="1"/>
          <p:nvPr/>
        </p:nvSpPr>
        <p:spPr>
          <a:xfrm>
            <a:off x="6409944"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Deployment management</a:t>
            </a:r>
            <a:endParaRPr lang="en-US" sz="1600" dirty="0"/>
          </a:p>
        </p:txBody>
      </p:sp>
      <p:sp>
        <p:nvSpPr>
          <p:cNvPr id="11" name="Text 8"/>
          <p:cNvSpPr txBox="1"/>
          <p:nvPr/>
        </p:nvSpPr>
        <p:spPr>
          <a:xfrm>
            <a:off x="6409944" y="2359152"/>
            <a:ext cx="5029200" cy="14356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narrower act of moving components into a live environment. One release may involve several deployments. Change enablement makes the go or no-go; release coordinates what follows; deployment moves the bits.</a:t>
            </a:r>
            <a:endParaRPr lang="en-US" sz="13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4206240"/>
          <a:ext cx="11091672" cy="914400"/>
        </p:xfrm>
        <a:graphic>
          <a:graphicData uri="http://schemas.openxmlformats.org/drawingml/2006/table">
            <a:tbl>
              <a:tblPr/>
              <a:tblGrid>
                <a:gridCol w="2743200"/>
                <a:gridCol w="8348472"/>
              </a:tblGrid>
              <a:tr h="0">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ITIL</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300" b="1" dirty="0">
                          <a:solidFill>
                            <a:srgbClr val="F7F6F2"/>
                          </a:solidFill>
                          <a:latin typeface="Calibri" pitchFamily="34" charset="0"/>
                          <a:ea typeface="Calibri" pitchFamily="34" charset="-122"/>
                          <a:cs typeface="Calibri" pitchFamily="34" charset="-120"/>
                        </a:rPr>
                        <a:t>In this course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Release</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Tag v0.1: a trained model, its card, its ADR, a pin and an eval report, bundled</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Release record</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The GitHub release page with the report attached</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Deployment</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git pull on your laptop</a:t>
                      </a:r>
                      <a:endParaRPr lang="en-US" sz="13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11091672" cy="365760"/>
          </a:xfrm>
          <a:prstGeom prst="rect">
            <a:avLst/>
          </a:prstGeom>
          <a:noFill/>
          <a:ln/>
        </p:spPr>
        <p:txBody>
          <a:bodyPr wrap="square" lIns="0" tIns="0" rIns="0" bIns="0" rtlCol="0"/>
          <a:lstStyle/>
          <a:p>
            <a:pPr indent="0" marL="0">
              <a:buNone/>
            </a:pPr>
            <a:r>
              <a:rPr lang="en-US" sz="1300" b="1" spc="300" kern="0" dirty="0">
                <a:solidFill>
                  <a:srgbClr val="D7EFEE"/>
                </a:solidFill>
              </a:rPr>
              <a:t>PART V · WHERE ANALYTICS FITS</a:t>
            </a:r>
            <a:endParaRPr lang="en-US" sz="1300" dirty="0"/>
          </a:p>
        </p:txBody>
      </p:sp>
      <p:sp>
        <p:nvSpPr>
          <p:cNvPr id="3" name="Text 0"/>
          <p:cNvSpPr/>
          <p:nvPr>
            <p:ph idx="101" type="title" hasCustomPrompt="1"/>
          </p:nvPr>
        </p:nvSpPr>
        <p:spPr>
          <a:xfrm>
            <a:off x="548640" y="2011680"/>
            <a:ext cx="10241280" cy="2194560"/>
          </a:xfrm>
          <a:prstGeom prst="rect">
            <a:avLst/>
          </a:prstGeom>
          <a:noFill/>
          <a:ln/>
        </p:spPr>
        <p:txBody>
          <a:bodyPr wrap="square" lIns="0" tIns="0" rIns="0" bIns="0" rtlCol="0" anchor="t"/>
          <a:lstStyle/>
          <a:p>
            <a:pPr algn="l" indent="0" marL="0">
              <a:buNone/>
            </a:pPr>
            <a:r>
              <a:rPr lang="en-US" sz="4000" b="1" dirty="0">
                <a:solidFill>
                  <a:schemeClr val="bg1"/>
                </a:solidFill>
              </a:rPr>
              <a:t>Analytics is not a feature of the agent. It is the loop the agent runs in.</a:t>
            </a:r>
            <a:endParaRPr lang="en-US" sz="4000" dirty="0"/>
          </a:p>
        </p:txBody>
      </p:sp>
      <p:sp>
        <p:nvSpPr>
          <p:cNvPr id="5" name="Text 0"/>
          <p:cNvSpPr/>
          <p:nvPr>
            <p:ph idx="102" type="body" hasCustomPrompt="1"/>
          </p:nvPr>
        </p:nvSpPr>
        <p:spPr>
          <a:xfrm>
            <a:off x="548640" y="4389120"/>
            <a:ext cx="9601200" cy="1097280"/>
          </a:xfrm>
          <a:prstGeom prst="rect">
            <a:avLst/>
          </a:prstGeom>
          <a:noFill/>
          <a:ln/>
        </p:spPr>
        <p:txBody>
          <a:bodyPr wrap="square" lIns="0" tIns="0" rIns="0" bIns="0" rtlCol="0" anchor="t"/>
          <a:lstStyle/>
          <a:p>
            <a:pPr indent="0" marL="0">
              <a:buNone/>
            </a:pPr>
            <a:r>
              <a:rPr lang="en-US" sz="1800" dirty="0">
                <a:solidFill>
                  <a:srgbClr val="D7EFEE"/>
                </a:solidFill>
              </a:rPr>
              <a:t>Descriptive before deployment, predictive inside planning, prescriptive at the tier boundary, diagnostic afterwards.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 · FIGURE 2 AGAIN</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Four kinds of analytics, one loop, one course</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 · Where analytics fits</a:t>
            </a:r>
            <a:endParaRPr lang="en-US" sz="10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554480"/>
                <a:gridCol w="1828800"/>
                <a:gridCol w="3200400"/>
                <a:gridCol w="4507992"/>
              </a:tblGrid>
              <a:tr h="0">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Kind</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In the agent’s loop</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In this course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Descriptive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What happened?</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Perceive: the facts the agent and its operators see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KPIs: MTTR, SLA attainment, backlog aging, Pareto (Module 8); the Module 2 notebook</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Diagnostic</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Why did it happen?</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Learn: explaining an outcome after the fact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Change impact: did a change cause incidents (Module 8); clustering into problem candidates (Module 13)</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Predictive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What will happen?</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Plan: a label or a score before acting</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Category classifier (Modules 3 and 4); SLA breach-risk score (Module 10); volume forecast (Module 11)</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Prescriptive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What should be done?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Act: a recommendation with a tier</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Routing a ticket to a group; proposing an assignment or a resolution (Module 7); retraining policy (Module 14)</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bl>
          </a:graphicData>
        </a:graphic>
      </p:graphicFrame>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Two points about that table</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 · Where analytics fits</a:t>
            </a:r>
            <a:endParaRPr lang="en-US" sz="1000" dirty="0"/>
          </a:p>
        </p:txBody>
      </p:sp>
      <p:sp>
        <p:nvSpPr>
          <p:cNvPr id="6" name="card"/>
          <p:cNvSpPr/>
          <p:nvPr/>
        </p:nvSpPr>
        <p:spPr>
          <a:xfrm>
            <a:off x="548640" y="1737360"/>
            <a:ext cx="5431536" cy="4206240"/>
          </a:xfrm>
          <a:prstGeom prst="roundRect">
            <a:avLst>
              <a:gd name="adj" fmla="val 2609"/>
            </a:avLst>
          </a:prstGeom>
          <a:solidFill>
            <a:schemeClr val="bg2"/>
          </a:solidFill>
          <a:ln w="9525">
            <a:solidFill>
              <a:srgbClr val="E3E1DA"/>
            </a:solidFill>
            <a:prstDash val="solid"/>
          </a:ln>
        </p:spPr>
      </p:sp>
      <p:sp>
        <p:nvSpPr>
          <p:cNvPr id="7" name="Text 4"/>
          <p:cNvSpPr txBox="1"/>
          <p:nvPr/>
        </p:nvSpPr>
        <p:spPr>
          <a:xfrm>
            <a:off x="749808" y="1901952"/>
            <a:ext cx="5029200" cy="411480"/>
          </a:xfrm>
          <a:prstGeom prst="rect">
            <a:avLst/>
          </a:prstGeom>
          <a:noFill/>
          <a:ln/>
        </p:spPr>
        <p:txBody>
          <a:bodyPr wrap="square" lIns="0" tIns="0" rIns="0" bIns="0" rtlCol="0" anchor="t"/>
          <a:lstStyle/>
          <a:p>
            <a:pPr indent="0" marL="0">
              <a:buNone/>
            </a:pPr>
            <a:r>
              <a:rPr lang="en-US" sz="1800" b="1" dirty="0">
                <a:solidFill>
                  <a:schemeClr val="tx1"/>
                </a:solidFill>
              </a:rPr>
              <a:t>The model is not the analytics</a:t>
            </a:r>
            <a:endParaRPr lang="en-US" sz="1800" dirty="0"/>
          </a:p>
        </p:txBody>
      </p:sp>
      <p:sp>
        <p:nvSpPr>
          <p:cNvPr id="8" name="Text 5"/>
          <p:cNvSpPr txBox="1"/>
          <p:nvPr/>
        </p:nvSpPr>
        <p:spPr>
          <a:xfrm>
            <a:off x="749808" y="2359152"/>
            <a:ext cx="5029200" cy="3447288"/>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The classifier is one predictive cell. Most of the value, and most of the risk, sits in the descriptive and diagnostic rows, which are a </a:t>
            </a:r>
            <a:pPr indent="0" marL="0">
              <a:spcAft>
                <a:spcPts val="400"/>
              </a:spcAft>
              <a:buNone/>
            </a:pPr>
            <a:r>
              <a:rPr lang="en-US" sz="1500" b="1" dirty="0">
                <a:solidFill>
                  <a:schemeClr val="tx2"/>
                </a:solidFill>
              </a:rPr>
              <a:t>groupby</a:t>
            </a:r>
            <a:pPr indent="0" marL="0">
              <a:spcAft>
                <a:spcPts val="400"/>
              </a:spcAft>
              <a:buNone/>
            </a:pPr>
            <a:r>
              <a:rPr lang="en-US" sz="1500" dirty="0">
                <a:solidFill>
                  <a:schemeClr val="tx2"/>
                </a:solidFill>
              </a:rPr>
              <a:t> and a comparison against a baseline.</a:t>
            </a:r>
            <a:endParaRPr lang="en-US" sz="1500" dirty="0"/>
          </a:p>
          <a:p>
            <a:pPr indent="0" marL="0">
              <a:spcAft>
                <a:spcPts val="400"/>
              </a:spcAft>
              <a:buNone/>
            </a:pPr>
            <a:endParaRPr lang="en-US" sz="1500" dirty="0"/>
          </a:p>
          <a:p>
            <a:pPr indent="0" marL="0">
              <a:spcAft>
                <a:spcPts val="400"/>
              </a:spcAft>
              <a:buNone/>
            </a:pPr>
            <a:r>
              <a:rPr lang="en-US" sz="1500" dirty="0">
                <a:solidFill>
                  <a:schemeClr val="tx2"/>
                </a:solidFill>
              </a:rPr>
              <a:t>A desk that cannot say what its MTTR was last month cannot tell whether an agent made it better.</a:t>
            </a:r>
            <a:endParaRPr lang="en-US" sz="1500" dirty="0"/>
          </a:p>
        </p:txBody>
      </p:sp>
      <p:sp>
        <p:nvSpPr>
          <p:cNvPr id="9" name="card"/>
          <p:cNvSpPr/>
          <p:nvPr/>
        </p:nvSpPr>
        <p:spPr>
          <a:xfrm>
            <a:off x="6208776" y="1737360"/>
            <a:ext cx="5431536" cy="4206240"/>
          </a:xfrm>
          <a:prstGeom prst="roundRect">
            <a:avLst>
              <a:gd name="adj" fmla="val 2609"/>
            </a:avLst>
          </a:prstGeom>
          <a:solidFill>
            <a:schemeClr val="accent3"/>
          </a:solidFill>
          <a:ln w="9525">
            <a:solidFill>
              <a:srgbClr val="BFD8D5"/>
            </a:solidFill>
            <a:prstDash val="solid"/>
          </a:ln>
        </p:spPr>
      </p:sp>
      <p:sp>
        <p:nvSpPr>
          <p:cNvPr id="10" name="Text 7"/>
          <p:cNvSpPr txBox="1"/>
          <p:nvPr/>
        </p:nvSpPr>
        <p:spPr>
          <a:xfrm>
            <a:off x="6409944" y="1901952"/>
            <a:ext cx="5029200" cy="411480"/>
          </a:xfrm>
          <a:prstGeom prst="rect">
            <a:avLst/>
          </a:prstGeom>
          <a:noFill/>
          <a:ln/>
        </p:spPr>
        <p:txBody>
          <a:bodyPr wrap="square" lIns="0" tIns="0" rIns="0" bIns="0" rtlCol="0" anchor="t"/>
          <a:lstStyle/>
          <a:p>
            <a:pPr indent="0" marL="0">
              <a:buNone/>
            </a:pPr>
            <a:r>
              <a:rPr lang="en-US" sz="1800" b="1" dirty="0">
                <a:solidFill>
                  <a:schemeClr val="tx1"/>
                </a:solidFill>
              </a:rPr>
              <a:t>Prescriptive is where the tiers live</a:t>
            </a:r>
            <a:endParaRPr lang="en-US" sz="1800" dirty="0"/>
          </a:p>
        </p:txBody>
      </p:sp>
      <p:sp>
        <p:nvSpPr>
          <p:cNvPr id="11" name="Text 8"/>
          <p:cNvSpPr txBox="1"/>
          <p:nvPr/>
        </p:nvSpPr>
        <p:spPr>
          <a:xfrm>
            <a:off x="6409944" y="2359152"/>
            <a:ext cx="5029200" cy="3447288"/>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“Assign to Network Ops” is analytics until it is acted on. The tier decides whether the agent may act on its own recommendation.</a:t>
            </a:r>
            <a:endParaRPr lang="en-US" sz="1500" dirty="0"/>
          </a:p>
          <a:p>
            <a:pPr indent="0" marL="0">
              <a:spcAft>
                <a:spcPts val="400"/>
              </a:spcAft>
              <a:buNone/>
            </a:pPr>
            <a:endParaRPr lang="en-US" sz="1500" dirty="0"/>
          </a:p>
          <a:p>
            <a:pPr indent="0" marL="0">
              <a:spcAft>
                <a:spcPts val="400"/>
              </a:spcAft>
              <a:buNone/>
            </a:pPr>
            <a:r>
              <a:rPr lang="en-US" sz="1500" b="1" dirty="0">
                <a:solidFill>
                  <a:srgbClr val="14213D"/>
                </a:solidFill>
              </a:rPr>
              <a:t>Analytics produces the recommendation; change management decides who may execute it. That is the whole link between the two threads of this course.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 · FIGURES 3 TO 5</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Analytics inside each practice</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 · Where analytics fits</a:t>
            </a:r>
            <a:endParaRPr lang="en-US" sz="1000" dirty="0"/>
          </a:p>
        </p:txBody>
      </p:sp>
      <p:sp>
        <p:nvSpPr>
          <p:cNvPr id="6" name="card"/>
          <p:cNvSpPr/>
          <p:nvPr/>
        </p:nvSpPr>
        <p:spPr>
          <a:xfrm>
            <a:off x="548640" y="1737360"/>
            <a:ext cx="3544824" cy="3383280"/>
          </a:xfrm>
          <a:prstGeom prst="roundRect">
            <a:avLst>
              <a:gd name="adj" fmla="val 3243"/>
            </a:avLst>
          </a:prstGeom>
          <a:solidFill>
            <a:schemeClr val="bg2"/>
          </a:solidFill>
          <a:ln w="9525">
            <a:solidFill>
              <a:srgbClr val="E3E1DA"/>
            </a:solidFill>
            <a:prstDash val="solid"/>
          </a:ln>
        </p:spPr>
      </p:sp>
      <p:sp>
        <p:nvSpPr>
          <p:cNvPr id="7" name="Text 4"/>
          <p:cNvSpPr txBox="1"/>
          <p:nvPr/>
        </p:nvSpPr>
        <p:spPr>
          <a:xfrm>
            <a:off x="749808"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Incident management</a:t>
            </a:r>
            <a:endParaRPr lang="en-US" sz="1600" dirty="0"/>
          </a:p>
        </p:txBody>
      </p:sp>
      <p:sp>
        <p:nvSpPr>
          <p:cNvPr id="8" name="Text 5"/>
          <p:cNvSpPr txBox="1"/>
          <p:nvPr/>
        </p:nvSpPr>
        <p:spPr>
          <a:xfrm>
            <a:off x="749808" y="2359152"/>
            <a:ext cx="3142488" cy="262432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Triage is </a:t>
            </a:r>
            <a:pPr indent="0" marL="0">
              <a:spcAft>
                <a:spcPts val="400"/>
              </a:spcAft>
              <a:buNone/>
            </a:pPr>
            <a:r>
              <a:rPr lang="en-US" sz="1300" b="1" dirty="0">
                <a:solidFill>
                  <a:schemeClr val="tx2"/>
                </a:solidFill>
              </a:rPr>
              <a:t>prediction</a:t>
            </a:r>
            <a:pPr indent="0" marL="0">
              <a:spcAft>
                <a:spcPts val="400"/>
              </a:spcAft>
              <a:buNone/>
            </a:pPr>
            <a:r>
              <a:rPr lang="en-US" sz="1300" dirty="0">
                <a:solidFill>
                  <a:schemeClr val="tx2"/>
                </a:solidFill>
              </a:rPr>
              <a:t> (category, priority, group). Investigation is retrieval, which is similarity analytics. Resolution is </a:t>
            </a:r>
            <a:pPr indent="0" marL="0">
              <a:spcAft>
                <a:spcPts val="400"/>
              </a:spcAft>
              <a:buNone/>
            </a:pPr>
            <a:r>
              <a:rPr lang="en-US" sz="1300" b="1" dirty="0">
                <a:solidFill>
                  <a:schemeClr val="tx2"/>
                </a:solidFill>
              </a:rPr>
              <a:t>prescriptive</a:t>
            </a:r>
            <a:pPr indent="0" marL="0">
              <a:spcAft>
                <a:spcPts val="400"/>
              </a:spcAft>
              <a:buNone/>
            </a:pPr>
            <a:r>
              <a:rPr lang="en-US" sz="1300" dirty="0">
                <a:solidFill>
                  <a:schemeClr val="tx2"/>
                </a:solidFill>
              </a:rPr>
              <a:t>. Close and learn is </a:t>
            </a:r>
            <a:pPr indent="0" marL="0">
              <a:spcAft>
                <a:spcPts val="400"/>
              </a:spcAft>
              <a:buNone/>
            </a:pPr>
            <a:r>
              <a:rPr lang="en-US" sz="1300" b="1" dirty="0">
                <a:solidFill>
                  <a:schemeClr val="tx2"/>
                </a:solidFill>
              </a:rPr>
              <a:t>descriptive</a:t>
            </a:r>
            <a:pPr indent="0" marL="0">
              <a:spcAft>
                <a:spcPts val="400"/>
              </a:spcAft>
              <a:buNone/>
            </a:pPr>
            <a:r>
              <a:rPr lang="en-US" sz="1300" dirty="0">
                <a:solidFill>
                  <a:schemeClr val="tx2"/>
                </a:solidFill>
              </a:rPr>
              <a:t>: the ticket joins the history that trains the next model.</a:t>
            </a:r>
            <a:endParaRPr lang="en-US" sz="1300" dirty="0"/>
          </a:p>
        </p:txBody>
      </p:sp>
      <p:sp>
        <p:nvSpPr>
          <p:cNvPr id="9" name="card"/>
          <p:cNvSpPr/>
          <p:nvPr/>
        </p:nvSpPr>
        <p:spPr>
          <a:xfrm>
            <a:off x="4322064" y="1737360"/>
            <a:ext cx="3544824" cy="3383280"/>
          </a:xfrm>
          <a:prstGeom prst="roundRect">
            <a:avLst>
              <a:gd name="adj" fmla="val 3243"/>
            </a:avLst>
          </a:prstGeom>
          <a:solidFill>
            <a:schemeClr val="bg2"/>
          </a:solidFill>
          <a:ln w="9525">
            <a:solidFill>
              <a:srgbClr val="E3E1DA"/>
            </a:solidFill>
            <a:prstDash val="solid"/>
          </a:ln>
        </p:spPr>
      </p:sp>
      <p:sp>
        <p:nvSpPr>
          <p:cNvPr id="10" name="Text 7"/>
          <p:cNvSpPr txBox="1"/>
          <p:nvPr/>
        </p:nvSpPr>
        <p:spPr>
          <a:xfrm>
            <a:off x="4523232"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Change enablement</a:t>
            </a:r>
            <a:endParaRPr lang="en-US" sz="1600" dirty="0"/>
          </a:p>
        </p:txBody>
      </p:sp>
      <p:sp>
        <p:nvSpPr>
          <p:cNvPr id="11" name="Text 8"/>
          <p:cNvSpPr txBox="1"/>
          <p:nvPr/>
        </p:nvSpPr>
        <p:spPr>
          <a:xfrm>
            <a:off x="4523232" y="2359152"/>
            <a:ext cx="3142488" cy="262432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risk rating is </a:t>
            </a:r>
            <a:pPr indent="0" marL="0">
              <a:spcAft>
                <a:spcPts val="400"/>
              </a:spcAft>
              <a:buNone/>
            </a:pPr>
            <a:r>
              <a:rPr lang="en-US" sz="1300" b="1" dirty="0">
                <a:solidFill>
                  <a:schemeClr val="tx2"/>
                </a:solidFill>
              </a:rPr>
              <a:t>predictive</a:t>
            </a:r>
            <a:pPr indent="0" marL="0">
              <a:spcAft>
                <a:spcPts val="400"/>
              </a:spcAft>
              <a:buNone/>
            </a:pPr>
            <a:r>
              <a:rPr lang="en-US" sz="1300" dirty="0">
                <a:solidFill>
                  <a:schemeClr val="tx2"/>
                </a:solidFill>
              </a:rPr>
              <a:t>, built on descriptive inputs: incident history for this item, change failure rate, concurrent changes. The “low risk?” diamond is a threshold on a score; who sets it is governance. The post-implementation review is </a:t>
            </a:r>
            <a:pPr indent="0" marL="0">
              <a:spcAft>
                <a:spcPts val="400"/>
              </a:spcAft>
              <a:buNone/>
            </a:pPr>
            <a:r>
              <a:rPr lang="en-US" sz="1300" b="1" dirty="0">
                <a:solidFill>
                  <a:schemeClr val="tx2"/>
                </a:solidFill>
              </a:rPr>
              <a:t>diagnostic</a:t>
            </a:r>
            <a:pPr indent="0" marL="0">
              <a:spcAft>
                <a:spcPts val="400"/>
              </a:spcAft>
              <a:buNone/>
            </a:pPr>
            <a:r>
              <a:rPr lang="en-US" sz="1300" dirty="0">
                <a:solidFill>
                  <a:schemeClr val="tx2"/>
                </a:solidFill>
              </a:rPr>
              <a:t>: the Module 8 method, every time.</a:t>
            </a:r>
            <a:endParaRPr lang="en-US" sz="1300" dirty="0"/>
          </a:p>
        </p:txBody>
      </p:sp>
      <p:sp>
        <p:nvSpPr>
          <p:cNvPr id="12" name="card"/>
          <p:cNvSpPr/>
          <p:nvPr/>
        </p:nvSpPr>
        <p:spPr>
          <a:xfrm>
            <a:off x="8095488" y="1737360"/>
            <a:ext cx="3544824" cy="3383280"/>
          </a:xfrm>
          <a:prstGeom prst="roundRect">
            <a:avLst>
              <a:gd name="adj" fmla="val 3243"/>
            </a:avLst>
          </a:prstGeom>
          <a:solidFill>
            <a:schemeClr val="bg2"/>
          </a:solidFill>
          <a:ln w="9525">
            <a:solidFill>
              <a:srgbClr val="E3E1DA"/>
            </a:solidFill>
            <a:prstDash val="solid"/>
          </a:ln>
        </p:spPr>
      </p:sp>
      <p:sp>
        <p:nvSpPr>
          <p:cNvPr id="13" name="Text 10"/>
          <p:cNvSpPr txBox="1"/>
          <p:nvPr/>
        </p:nvSpPr>
        <p:spPr>
          <a:xfrm>
            <a:off x="8296656"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Release management</a:t>
            </a:r>
            <a:endParaRPr lang="en-US" sz="1600" dirty="0"/>
          </a:p>
        </p:txBody>
      </p:sp>
      <p:sp>
        <p:nvSpPr>
          <p:cNvPr id="14" name="Text 11"/>
          <p:cNvSpPr txBox="1"/>
          <p:nvPr/>
        </p:nvSpPr>
        <p:spPr>
          <a:xfrm>
            <a:off x="8296656" y="2359152"/>
            <a:ext cx="3142488" cy="262432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Readiness is a scorecard: tests, coverage, dependencies, security scans. Verify and close is </a:t>
            </a:r>
            <a:pPr indent="0" marL="0">
              <a:spcAft>
                <a:spcPts val="400"/>
              </a:spcAft>
              <a:buNone/>
            </a:pPr>
            <a:r>
              <a:rPr lang="en-US" sz="1300" b="1" dirty="0">
                <a:solidFill>
                  <a:schemeClr val="tx2"/>
                </a:solidFill>
              </a:rPr>
              <a:t>descriptive</a:t>
            </a:r>
            <a:pPr indent="0" marL="0">
              <a:spcAft>
                <a:spcPts val="400"/>
              </a:spcAft>
              <a:buNone/>
            </a:pPr>
            <a:r>
              <a:rPr lang="en-US" sz="1300" dirty="0">
                <a:solidFill>
                  <a:schemeClr val="tx2"/>
                </a:solidFill>
              </a:rPr>
              <a:t> again: metrics after against metrics before. For a model release, that is the bake-off table and the harness.</a:t>
            </a:r>
            <a:endParaRPr lang="en-US" sz="1300" dirty="0"/>
          </a:p>
        </p:txBody>
      </p:sp>
      <p:sp>
        <p:nvSpPr>
          <p:cNvPr id="15" name="Text 12"/>
          <p:cNvSpPr txBox="1"/>
          <p:nvPr/>
        </p:nvSpPr>
        <p:spPr>
          <a:xfrm>
            <a:off x="548640" y="5349240"/>
            <a:ext cx="11091672" cy="822960"/>
          </a:xfrm>
          <a:prstGeom prst="rect">
            <a:avLst/>
          </a:prstGeom>
          <a:noFill/>
          <a:ln/>
        </p:spPr>
        <p:txBody>
          <a:bodyPr wrap="square" lIns="0" tIns="0" rIns="0" bIns="0" rtlCol="0" anchor="t"/>
          <a:lstStyle/>
          <a:p>
            <a:pPr indent="0" marL="0">
              <a:buNone/>
            </a:pPr>
            <a:r>
              <a:rPr lang="en-US" sz="1300" dirty="0">
                <a:solidFill>
                  <a:schemeClr val="tx2"/>
                </a:solidFill>
              </a:rPr>
              <a:t>The fourth CAB habit, “use AI to map text to services and correlate dependencies”, is in this slide twice: once as retrieval, once as the change-impact review.</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5"/>
                </a:solidFill>
              </a:rPr>
              <a:t>PART V</a:t>
            </a:r>
            <a:endParaRPr lang="en-US" sz="1100" dirty="0"/>
          </a:p>
        </p:txBody>
      </p:sp>
      <p:sp>
        <p:nvSpPr>
          <p:cNvPr id="3" name="Text 0"/>
          <p:cNvSpPr/>
          <p:nvPr>
            <p:ph idx="101" type="title" hasCustomPrompt="1"/>
          </p:nvPr>
        </p:nvSpPr>
        <p:spPr>
          <a:xfrm>
            <a:off x="548640" y="685800"/>
            <a:ext cx="11091672" cy="1097280"/>
          </a:xfrm>
          <a:prstGeom prst="rect">
            <a:avLst/>
          </a:prstGeom>
          <a:noFill/>
          <a:ln/>
        </p:spPr>
        <p:txBody>
          <a:bodyPr wrap="square" lIns="0" tIns="0" rIns="0" bIns="0" rtlCol="0" anchor="t"/>
          <a:lstStyle/>
          <a:p>
            <a:pPr algn="l" indent="0" marL="0">
              <a:buNone/>
            </a:pPr>
            <a:r>
              <a:rPr lang="en-US" sz="3000" b="1" dirty="0">
                <a:solidFill>
                  <a:schemeClr val="bg1"/>
                </a:solidFill>
              </a:rPr>
              <a:t>Agents are only as good as the data behind them. That is an analytics problem.</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8A97B5"/>
                </a:solidFill>
              </a:rPr>
              <a:t>Part V · Where analytics fits</a:t>
            </a:r>
            <a:endParaRPr lang="en-US" sz="1000" dirty="0"/>
          </a:p>
        </p:txBody>
      </p:sp>
      <p:sp>
        <p:nvSpPr>
          <p:cNvPr id="6" name="card"/>
          <p:cNvSpPr/>
          <p:nvPr/>
        </p:nvSpPr>
        <p:spPr>
          <a:xfrm>
            <a:off x="548640" y="2103120"/>
            <a:ext cx="5431536" cy="3840480"/>
          </a:xfrm>
          <a:prstGeom prst="roundRect">
            <a:avLst>
              <a:gd name="adj" fmla="val 2857"/>
            </a:avLst>
          </a:prstGeom>
          <a:solidFill>
            <a:schemeClr val="accent6"/>
          </a:solidFill>
          <a:ln w="9525">
            <a:solidFill>
              <a:srgbClr val="1F2F55"/>
            </a:solidFill>
            <a:prstDash val="solid"/>
          </a:ln>
        </p:spPr>
      </p:sp>
      <p:sp>
        <p:nvSpPr>
          <p:cNvPr id="7" name="Text 4"/>
          <p:cNvSpPr txBox="1"/>
          <p:nvPr/>
        </p:nvSpPr>
        <p:spPr>
          <a:xfrm>
            <a:off x="749808" y="2267712"/>
            <a:ext cx="5029200" cy="640080"/>
          </a:xfrm>
          <a:prstGeom prst="rect">
            <a:avLst/>
          </a:prstGeom>
          <a:noFill/>
          <a:ln/>
        </p:spPr>
        <p:txBody>
          <a:bodyPr wrap="square" lIns="0" tIns="0" rIns="0" bIns="0" rtlCol="0" anchor="t"/>
          <a:lstStyle/>
          <a:p>
            <a:pPr indent="0" marL="0">
              <a:buNone/>
            </a:pPr>
            <a:r>
              <a:rPr lang="en-US" sz="1600" b="1" dirty="0">
                <a:solidFill>
                  <a:srgbClr val="F7F6F2"/>
                </a:solidFill>
              </a:rPr>
              <a:t>What every vendor says after a first deployment</a:t>
            </a:r>
            <a:endParaRPr lang="en-US" sz="1600" dirty="0"/>
          </a:p>
        </p:txBody>
      </p:sp>
      <p:sp>
        <p:nvSpPr>
          <p:cNvPr id="8" name="Text 5"/>
          <p:cNvSpPr txBox="1"/>
          <p:nvPr/>
        </p:nvSpPr>
        <p:spPr>
          <a:xfrm>
            <a:off x="749808" y="2953512"/>
            <a:ext cx="5029200" cy="2852928"/>
          </a:xfrm>
          <a:prstGeom prst="rect">
            <a:avLst/>
          </a:prstGeom>
          <a:noFill/>
          <a:ln/>
        </p:spPr>
        <p:txBody>
          <a:bodyPr wrap="square" lIns="0" tIns="0" rIns="0" bIns="0" rtlCol="0" anchor="t"/>
          <a:lstStyle/>
          <a:p>
            <a:pPr indent="0" marL="0">
              <a:spcAft>
                <a:spcPts val="400"/>
              </a:spcAft>
              <a:buNone/>
            </a:pPr>
            <a:r>
              <a:rPr lang="en-US" sz="1400" dirty="0">
                <a:solidFill>
                  <a:srgbClr val="BFD8D5"/>
                </a:solidFill>
              </a:rPr>
              <a:t>An agent rating change risk needs accurate configuration items, dependencies, vulnerability data and incident history. With a half-maintained CMDB it produces confident, wrong ratings, faster than the people it replaced.</a:t>
            </a:r>
            <a:endParaRPr lang="en-US" sz="1400" dirty="0"/>
          </a:p>
        </p:txBody>
      </p:sp>
      <p:sp>
        <p:nvSpPr>
          <p:cNvPr id="9" name="card"/>
          <p:cNvSpPr/>
          <p:nvPr/>
        </p:nvSpPr>
        <p:spPr>
          <a:xfrm>
            <a:off x="6208776" y="2103120"/>
            <a:ext cx="5431536" cy="3840480"/>
          </a:xfrm>
          <a:prstGeom prst="roundRect">
            <a:avLst>
              <a:gd name="adj" fmla="val 2857"/>
            </a:avLst>
          </a:prstGeom>
          <a:solidFill>
            <a:schemeClr val="accent6"/>
          </a:solidFill>
          <a:ln w="9525">
            <a:solidFill>
              <a:srgbClr val="1F2F55"/>
            </a:solidFill>
            <a:prstDash val="solid"/>
          </a:ln>
        </p:spPr>
      </p:sp>
      <p:sp>
        <p:nvSpPr>
          <p:cNvPr id="10" name="Text 7"/>
          <p:cNvSpPr txBox="1"/>
          <p:nvPr/>
        </p:nvSpPr>
        <p:spPr>
          <a:xfrm>
            <a:off x="6409944" y="2267712"/>
            <a:ext cx="5029200" cy="640080"/>
          </a:xfrm>
          <a:prstGeom prst="rect">
            <a:avLst/>
          </a:prstGeom>
          <a:noFill/>
          <a:ln/>
        </p:spPr>
        <p:txBody>
          <a:bodyPr wrap="square" lIns="0" tIns="0" rIns="0" bIns="0" rtlCol="0" anchor="t"/>
          <a:lstStyle/>
          <a:p>
            <a:pPr indent="0" marL="0">
              <a:buNone/>
            </a:pPr>
            <a:r>
              <a:rPr lang="en-US" sz="1600" b="1" dirty="0">
                <a:solidFill>
                  <a:srgbClr val="F7F6F2"/>
                </a:solidFill>
              </a:rPr>
              <a:t>The analytics reading</a:t>
            </a:r>
            <a:endParaRPr lang="en-US" sz="1600" dirty="0"/>
          </a:p>
        </p:txBody>
      </p:sp>
      <p:sp>
        <p:nvSpPr>
          <p:cNvPr id="11" name="Text 8"/>
          <p:cNvSpPr txBox="1"/>
          <p:nvPr/>
        </p:nvSpPr>
        <p:spPr>
          <a:xfrm>
            <a:off x="6409944" y="2953512"/>
            <a:ext cx="5029200" cy="2852928"/>
          </a:xfrm>
          <a:prstGeom prst="rect">
            <a:avLst/>
          </a:prstGeom>
          <a:noFill/>
          <a:ln/>
        </p:spPr>
        <p:txBody>
          <a:bodyPr wrap="square" lIns="0" tIns="0" rIns="0" bIns="0" rtlCol="0" anchor="t"/>
          <a:lstStyle/>
          <a:p>
            <a:pPr indent="0" marL="0">
              <a:spcAft>
                <a:spcPts val="400"/>
              </a:spcAft>
              <a:buNone/>
            </a:pPr>
            <a:r>
              <a:rPr lang="en-US" sz="1400" dirty="0">
                <a:solidFill>
                  <a:srgbClr val="BFD8D5"/>
                </a:solidFill>
              </a:rPr>
              <a:t>Before an agent, run the descriptive analytics. If the KPIs cannot be computed cleanly, the agent inherits every defect. Module 2 found one: the PDI stamped every historical timestamp with the load time, so time-based analytics reads the CSV and joins on a correlation id. That finding shaped the whole course.</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B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Evaluation is analytics too, and so is the analyst’s job</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 · Where analytics fits</a:t>
            </a:r>
            <a:endParaRPr lang="en-US" sz="1000" dirty="0"/>
          </a:p>
        </p:txBody>
      </p:sp>
      <p:sp>
        <p:nvSpPr>
          <p:cNvPr id="6" name="card"/>
          <p:cNvSpPr/>
          <p:nvPr/>
        </p:nvSpPr>
        <p:spPr>
          <a:xfrm>
            <a:off x="548640" y="1737360"/>
            <a:ext cx="5431536" cy="3566160"/>
          </a:xfrm>
          <a:prstGeom prst="roundRect">
            <a:avLst>
              <a:gd name="adj" fmla="val 3077"/>
            </a:avLst>
          </a:prstGeom>
          <a:solidFill>
            <a:schemeClr val="bg2"/>
          </a:solidFill>
          <a:ln w="9525">
            <a:solidFill>
              <a:srgbClr val="E3E1DA"/>
            </a:solidFill>
            <a:prstDash val="solid"/>
          </a:ln>
        </p:spPr>
      </p:sp>
      <p:sp>
        <p:nvSpPr>
          <p:cNvPr id="7" name="Text 4"/>
          <p:cNvSpPr txBox="1"/>
          <p:nvPr/>
        </p:nvSpPr>
        <p:spPr>
          <a:xfrm>
            <a:off x="749808"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The harness is a measurement program</a:t>
            </a:r>
            <a:endParaRPr lang="en-US" sz="1600" dirty="0"/>
          </a:p>
        </p:txBody>
      </p:sp>
      <p:sp>
        <p:nvSpPr>
          <p:cNvPr id="8" name="Text 5"/>
          <p:cNvSpPr txBox="1"/>
          <p:nvPr/>
        </p:nvSpPr>
        <p:spPr>
          <a:xfrm>
            <a:off x="749808" y="2359152"/>
            <a:ext cx="5029200" cy="280720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Four metrics are descriptive statistics of the agent’s behaviour on a fixed holdout set. </a:t>
            </a:r>
            <a:pPr indent="0" marL="0">
              <a:spcAft>
                <a:spcPts val="400"/>
              </a:spcAft>
              <a:buNone/>
            </a:pPr>
            <a:r>
              <a:rPr lang="en-US" sz="1400" b="1" dirty="0">
                <a:solidFill>
                  <a:schemeClr val="tx2"/>
                </a:solidFill>
              </a:rPr>
              <a:t>harmful_action_count</a:t>
            </a:r>
            <a:pPr indent="0" marL="0">
              <a:spcAft>
                <a:spcPts val="400"/>
              </a:spcAft>
              <a:buNone/>
            </a:pPr>
            <a:r>
              <a:rPr lang="en-US" sz="1400" dirty="0">
                <a:solidFill>
                  <a:schemeClr val="tx2"/>
                </a:solidFill>
              </a:rPr>
              <a:t> turns governance into a number. Module 14’s drift detection is diagnostic analytics on the agent itself. An agent program with no measurement program is a demo.</a:t>
            </a:r>
            <a:endParaRPr lang="en-US" sz="1400" dirty="0"/>
          </a:p>
        </p:txBody>
      </p:sp>
      <p:sp>
        <p:nvSpPr>
          <p:cNvPr id="9" name="card"/>
          <p:cNvSpPr/>
          <p:nvPr/>
        </p:nvSpPr>
        <p:spPr>
          <a:xfrm>
            <a:off x="6208776" y="1737360"/>
            <a:ext cx="5431536" cy="3566160"/>
          </a:xfrm>
          <a:prstGeom prst="roundRect">
            <a:avLst>
              <a:gd name="adj" fmla="val 3077"/>
            </a:avLst>
          </a:prstGeom>
          <a:solidFill>
            <a:schemeClr val="accent3"/>
          </a:solidFill>
          <a:ln w="9525">
            <a:solidFill>
              <a:srgbClr val="BFD8D5"/>
            </a:solidFill>
            <a:prstDash val="solid"/>
          </a:ln>
        </p:spPr>
      </p:sp>
      <p:sp>
        <p:nvSpPr>
          <p:cNvPr id="10" name="Text 7"/>
          <p:cNvSpPr txBox="1"/>
          <p:nvPr/>
        </p:nvSpPr>
        <p:spPr>
          <a:xfrm>
            <a:off x="6409944"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What a business analyst does on an agent project</a:t>
            </a:r>
            <a:endParaRPr lang="en-US" sz="1600" dirty="0"/>
          </a:p>
        </p:txBody>
      </p:sp>
      <p:sp>
        <p:nvSpPr>
          <p:cNvPr id="11" name="Text 8"/>
          <p:cNvSpPr txBox="1"/>
          <p:nvPr/>
        </p:nvSpPr>
        <p:spPr>
          <a:xfrm>
            <a:off x="6409944" y="2359152"/>
            <a:ext cx="5029200" cy="2807208"/>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chemeClr val="tx2"/>
                </a:solidFill>
              </a:rPr>
              <a:t>Define the KPIs the agent must move; measure them before deploying anything.</a:t>
            </a:r>
            <a:endParaRPr lang="en-US" sz="1400" dirty="0"/>
          </a:p>
          <a:p>
            <a:pPr marL="342900" indent="-342900">
              <a:spcAft>
                <a:spcPts val="400"/>
              </a:spcAft>
              <a:buSzPct val="100000"/>
              <a:buFont typeface="+mj-lt"/>
              <a:buAutoNum type="arabicPeriod" startAt="1"/>
            </a:pPr>
            <a:r>
              <a:rPr lang="en-US" sz="1300" dirty="0">
                <a:solidFill>
                  <a:schemeClr val="tx2"/>
                </a:solidFill>
              </a:rPr>
              <a:t>Find and fix the data defects the KPIs expose.</a:t>
            </a:r>
            <a:endParaRPr lang="en-US" sz="1400" dirty="0"/>
          </a:p>
          <a:p>
            <a:pPr marL="342900" indent="-342900">
              <a:spcAft>
                <a:spcPts val="400"/>
              </a:spcAft>
              <a:buSzPct val="100000"/>
              <a:buFont typeface="+mj-lt"/>
              <a:buAutoNum type="arabicPeriod" startAt="1"/>
            </a:pPr>
            <a:r>
              <a:rPr lang="en-US" sz="1300" dirty="0">
                <a:solidFill>
                  <a:schemeClr val="tx2"/>
                </a:solidFill>
              </a:rPr>
              <a:t>Build or evaluate the predictive pieces on a time-based holdout.</a:t>
            </a:r>
            <a:endParaRPr lang="en-US" sz="1400" dirty="0"/>
          </a:p>
          <a:p>
            <a:pPr marL="342900" indent="-342900">
              <a:spcAft>
                <a:spcPts val="400"/>
              </a:spcAft>
              <a:buSzPct val="100000"/>
              <a:buFont typeface="+mj-lt"/>
              <a:buAutoNum type="arabicPeriod" startAt="1"/>
            </a:pPr>
            <a:r>
              <a:rPr lang="en-US" sz="1300" dirty="0">
                <a:solidFill>
                  <a:schemeClr val="tx2"/>
                </a:solidFill>
              </a:rPr>
              <a:t>Design the recommendation and the threshold that turns it into an action.</a:t>
            </a:r>
            <a:endParaRPr lang="en-US" sz="1400" dirty="0"/>
          </a:p>
          <a:p>
            <a:pPr marL="342900" indent="-342900">
              <a:spcAft>
                <a:spcPts val="400"/>
              </a:spcAft>
              <a:buSzPct val="100000"/>
              <a:buFont typeface="+mj-lt"/>
              <a:buAutoNum type="arabicPeriod" startAt="1"/>
            </a:pPr>
            <a:r>
              <a:rPr lang="en-US" sz="1300" dirty="0">
                <a:solidFill>
                  <a:schemeClr val="tx2"/>
                </a:solidFill>
              </a:rPr>
              <a:t>Own the post-implementation review.</a:t>
            </a:r>
            <a:endParaRPr lang="en-US" sz="1400" dirty="0"/>
          </a:p>
        </p:txBody>
      </p:sp>
      <p:sp>
        <p:nvSpPr>
          <p:cNvPr id="12" name="Text 9"/>
          <p:cNvSpPr txBox="1"/>
          <p:nvPr/>
        </p:nvSpPr>
        <p:spPr>
          <a:xfrm>
            <a:off x="548640" y="5532120"/>
            <a:ext cx="11091672" cy="640080"/>
          </a:xfrm>
          <a:prstGeom prst="rect">
            <a:avLst/>
          </a:prstGeom>
          <a:noFill/>
          <a:ln/>
        </p:spPr>
        <p:txBody>
          <a:bodyPr wrap="square" lIns="0" tIns="0" rIns="0" bIns="0" rtlCol="0" anchor="t"/>
          <a:lstStyle/>
          <a:p>
            <a:pPr indent="0" marL="0">
              <a:buNone/>
            </a:pPr>
            <a:r>
              <a:rPr lang="en-US" sz="1400" dirty="0">
                <a:solidFill>
                  <a:schemeClr val="tx2"/>
                </a:solidFill>
              </a:rPr>
              <a:t>Every one of those five is a module of this course. The job is not “write the model”.</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VI · FIGURE 6</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Not every ITSM task is equally ready for an agent</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VI · Agents in ITSM today, and governance</a:t>
            </a:r>
            <a:endParaRPr lang="en-US" sz="10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280160"/>
                <a:gridCol w="6400800"/>
                <a:gridCol w="3410712"/>
              </a:tblGrid>
              <a:tr h="0">
                <a:tc>
                  <a:txBody>
                    <a:bodyPr/>
                    <a:lstStyle/>
                    <a:p>
                      <a:pPr indent="0" marL="0">
                        <a:buNone/>
                      </a:pPr>
                      <a:r>
                        <a:rPr lang="en-US" sz="1400" b="1" dirty="0">
                          <a:solidFill>
                            <a:srgbClr val="F7F6F2"/>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400" b="1" dirty="0">
                          <a:solidFill>
                            <a:srgbClr val="F7F6F2"/>
                          </a:solidFill>
                          <a:latin typeface="Calibri" pitchFamily="34" charset="0"/>
                          <a:ea typeface="Calibri" pitchFamily="34" charset="-122"/>
                          <a:cs typeface="Calibri" pitchFamily="34" charset="-120"/>
                        </a:rPr>
                        <a:t>Use case</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400" b="1" dirty="0">
                          <a:solidFill>
                            <a:srgbClr val="F7F6F2"/>
                          </a:solidFill>
                          <a:latin typeface="Calibri" pitchFamily="34" charset="0"/>
                          <a:ea typeface="Calibri" pitchFamily="34" charset="-122"/>
                          <a:cs typeface="Calibri" pitchFamily="34" charset="-120"/>
                        </a:rPr>
                        <a:t>Maturity</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Incident triage, knowledge retrieval, ticket deflection</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Most mature</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Request fulfilment, automated incident creation</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Emerging</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Change approval, autonomous release decisions</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Least mature, highest risk</a:t>
                      </a:r>
                      <a:endParaRPr lang="en-US" sz="14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bl>
          </a:graphicData>
        </a:graphic>
      </p:graphicFrame>
      <p:sp>
        <p:nvSpPr>
          <p:cNvPr id="7" name="callout"/>
          <p:cNvSpPr/>
          <p:nvPr/>
        </p:nvSpPr>
        <p:spPr>
          <a:xfrm>
            <a:off x="548640" y="3749040"/>
            <a:ext cx="11091672" cy="1188720"/>
          </a:xfrm>
          <a:prstGeom prst="roundRect">
            <a:avLst>
              <a:gd name="adj" fmla="val 9231"/>
            </a:avLst>
          </a:prstGeom>
          <a:solidFill>
            <a:srgbClr val="E6F2F1"/>
          </a:solidFill>
          <a:ln w="12700">
            <a:solidFill>
              <a:srgbClr val="E6F2F1"/>
            </a:solidFill>
            <a:prstDash val="solid"/>
          </a:ln>
        </p:spPr>
      </p:sp>
      <p:sp>
        <p:nvSpPr>
          <p:cNvPr id="8" name="Text 4"/>
          <p:cNvSpPr txBox="1"/>
          <p:nvPr/>
        </p:nvSpPr>
        <p:spPr>
          <a:xfrm>
            <a:off x="822960" y="3886200"/>
            <a:ext cx="10543032" cy="914400"/>
          </a:xfrm>
          <a:prstGeom prst="rect">
            <a:avLst/>
          </a:prstGeom>
          <a:noFill/>
          <a:ln/>
        </p:spPr>
        <p:txBody>
          <a:bodyPr wrap="square" lIns="0" tIns="0" rIns="0" bIns="0" rtlCol="0" anchor="ctr"/>
          <a:lstStyle/>
          <a:p>
            <a:pPr indent="0" marL="0">
              <a:buNone/>
            </a:pPr>
            <a:r>
              <a:rPr lang="en-US" sz="1500" b="1" dirty="0">
                <a:solidFill>
                  <a:srgbClr val="14213D"/>
                </a:solidFill>
              </a:rPr>
              <a:t>The principle underneath: </a:t>
            </a:r>
            <a:pPr indent="0" marL="0">
              <a:buNone/>
            </a:pPr>
            <a:r>
              <a:rPr lang="en-US" sz="1500" dirty="0">
                <a:solidFill>
                  <a:srgbClr val="14213D"/>
                </a:solidFill>
              </a:rPr>
              <a:t>the more consequential and the less reversible the action, the more caution it needs. A wrong triage is reassigned in a minute; a wrong production change may not be undoable.</a:t>
            </a:r>
            <a:endParaRPr lang="en-US" sz="1500" dirty="0"/>
          </a:p>
        </p:txBody>
      </p:sp>
      <p:sp>
        <p:nvSpPr>
          <p:cNvPr id="9" name="Text 5"/>
          <p:cNvSpPr txBox="1"/>
          <p:nvPr/>
        </p:nvSpPr>
        <p:spPr>
          <a:xfrm>
            <a:off x="548640" y="5212080"/>
            <a:ext cx="11091672" cy="914400"/>
          </a:xfrm>
          <a:prstGeom prst="rect">
            <a:avLst/>
          </a:prstGeom>
          <a:noFill/>
          <a:ln/>
        </p:spPr>
        <p:txBody>
          <a:bodyPr wrap="square" lIns="0" tIns="0" rIns="0" bIns="0" rtlCol="0" anchor="t"/>
          <a:lstStyle/>
          <a:p>
            <a:pPr indent="0" marL="0">
              <a:buNone/>
            </a:pPr>
            <a:r>
              <a:rPr lang="en-US" sz="1400" dirty="0">
                <a:solidFill>
                  <a:schemeClr val="tx2"/>
                </a:solidFill>
              </a:rPr>
              <a:t>The capability ladder of this course climbs this table from the bottom row of risk to the top: read first, then propose, then execute with approval, and nothing autonomous yet.</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VI</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What vendors ship in 2026</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VI · Agents in ITSM today, and governance</a:t>
            </a:r>
            <a:endParaRPr lang="en-US" sz="1000" dirty="0"/>
          </a:p>
        </p:txBody>
      </p:sp>
      <p:sp>
        <p:nvSpPr>
          <p:cNvPr id="6" name="card"/>
          <p:cNvSpPr/>
          <p:nvPr/>
        </p:nvSpPr>
        <p:spPr>
          <a:xfrm>
            <a:off x="548640" y="1737360"/>
            <a:ext cx="3544824" cy="4297680"/>
          </a:xfrm>
          <a:prstGeom prst="roundRect">
            <a:avLst>
              <a:gd name="adj" fmla="val 3095"/>
            </a:avLst>
          </a:prstGeom>
          <a:solidFill>
            <a:schemeClr val="bg2"/>
          </a:solidFill>
          <a:ln w="9525">
            <a:solidFill>
              <a:srgbClr val="E3E1DA"/>
            </a:solidFill>
            <a:prstDash val="solid"/>
          </a:ln>
        </p:spPr>
      </p:sp>
      <p:sp>
        <p:nvSpPr>
          <p:cNvPr id="7" name="Text 4"/>
          <p:cNvSpPr txBox="1"/>
          <p:nvPr/>
        </p:nvSpPr>
        <p:spPr>
          <a:xfrm>
            <a:off x="749808"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Change manager agents</a:t>
            </a:r>
            <a:endParaRPr lang="en-US" sz="1600" dirty="0"/>
          </a:p>
        </p:txBody>
      </p:sp>
      <p:sp>
        <p:nvSpPr>
          <p:cNvPr id="8" name="Text 5"/>
          <p:cNvSpPr txBox="1"/>
          <p:nvPr/>
        </p:nvSpPr>
        <p:spPr>
          <a:xfrm>
            <a:off x="749808" y="2359152"/>
            <a:ext cx="3142488" cy="353872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Lansweeper’s Change Manager, BMC Helix’s Change Risk Advisor, ServiceNow’s intelligent change management. Read the request, cross-reference incident history, asset criticality, vulnerabilities and collision rules, produce a risk rating: approve, approve with conditions, escalate. Some auto-approve low-risk normal changes against policy.</a:t>
            </a:r>
            <a:endParaRPr lang="en-US" sz="1300" dirty="0"/>
          </a:p>
        </p:txBody>
      </p:sp>
      <p:sp>
        <p:nvSpPr>
          <p:cNvPr id="9" name="card"/>
          <p:cNvSpPr/>
          <p:nvPr/>
        </p:nvSpPr>
        <p:spPr>
          <a:xfrm>
            <a:off x="4322064" y="1737360"/>
            <a:ext cx="3544824" cy="4297680"/>
          </a:xfrm>
          <a:prstGeom prst="roundRect">
            <a:avLst>
              <a:gd name="adj" fmla="val 3095"/>
            </a:avLst>
          </a:prstGeom>
          <a:solidFill>
            <a:schemeClr val="bg2"/>
          </a:solidFill>
          <a:ln w="9525">
            <a:solidFill>
              <a:srgbClr val="E3E1DA"/>
            </a:solidFill>
            <a:prstDash val="solid"/>
          </a:ln>
        </p:spPr>
      </p:sp>
      <p:sp>
        <p:nvSpPr>
          <p:cNvPr id="10" name="Text 7"/>
          <p:cNvSpPr txBox="1"/>
          <p:nvPr/>
        </p:nvSpPr>
        <p:spPr>
          <a:xfrm>
            <a:off x="4523232"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Release agents</a:t>
            </a:r>
            <a:endParaRPr lang="en-US" sz="1600" dirty="0"/>
          </a:p>
        </p:txBody>
      </p:sp>
      <p:sp>
        <p:nvSpPr>
          <p:cNvPr id="11" name="Text 8"/>
          <p:cNvSpPr txBox="1"/>
          <p:nvPr/>
        </p:nvSpPr>
        <p:spPr>
          <a:xfrm>
            <a:off x="4523232" y="2359152"/>
            <a:ext cx="3142488" cy="353872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AWS DevOps Agent’s release manager tools; multi-agent release teams arranged as a directed graph of release manager, CI/CD, tester, docs, dependency and security agents. Readiness reviews on every pull request; human approval at defined gates.</a:t>
            </a:r>
            <a:endParaRPr lang="en-US" sz="1300" dirty="0"/>
          </a:p>
        </p:txBody>
      </p:sp>
      <p:sp>
        <p:nvSpPr>
          <p:cNvPr id="12" name="card"/>
          <p:cNvSpPr/>
          <p:nvPr/>
        </p:nvSpPr>
        <p:spPr>
          <a:xfrm>
            <a:off x="8095488" y="1737360"/>
            <a:ext cx="3544824" cy="4297680"/>
          </a:xfrm>
          <a:prstGeom prst="roundRect">
            <a:avLst>
              <a:gd name="adj" fmla="val 3095"/>
            </a:avLst>
          </a:prstGeom>
          <a:solidFill>
            <a:schemeClr val="accent3"/>
          </a:solidFill>
          <a:ln w="9525">
            <a:solidFill>
              <a:srgbClr val="BFD8D5"/>
            </a:solidFill>
            <a:prstDash val="solid"/>
          </a:ln>
        </p:spPr>
      </p:sp>
      <p:sp>
        <p:nvSpPr>
          <p:cNvPr id="13" name="Text 10"/>
          <p:cNvSpPr txBox="1"/>
          <p:nvPr/>
        </p:nvSpPr>
        <p:spPr>
          <a:xfrm>
            <a:off x="8296656" y="1901952"/>
            <a:ext cx="3142488" cy="411480"/>
          </a:xfrm>
          <a:prstGeom prst="rect">
            <a:avLst/>
          </a:prstGeom>
          <a:noFill/>
          <a:ln/>
        </p:spPr>
        <p:txBody>
          <a:bodyPr wrap="square" lIns="0" tIns="0" rIns="0" bIns="0" rtlCol="0" anchor="t"/>
          <a:lstStyle/>
          <a:p>
            <a:pPr indent="0" marL="0">
              <a:buNone/>
            </a:pPr>
            <a:r>
              <a:rPr lang="en-US" sz="1600" b="1" dirty="0">
                <a:solidFill>
                  <a:schemeClr val="tx1"/>
                </a:solidFill>
              </a:rPr>
              <a:t>ReleaseOps</a:t>
            </a:r>
            <a:endParaRPr lang="en-US" sz="1600" dirty="0"/>
          </a:p>
        </p:txBody>
      </p:sp>
      <p:sp>
        <p:nvSpPr>
          <p:cNvPr id="14" name="Text 11"/>
          <p:cNvSpPr txBox="1"/>
          <p:nvPr/>
        </p:nvSpPr>
        <p:spPr>
          <a:xfrm>
            <a:off x="8296656" y="2359152"/>
            <a:ext cx="3142488" cy="353872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An agent’s prompts, policies and model configuration are a versioned artifact promoted through gated environments. An agent is itself software that must be released.</a:t>
            </a:r>
            <a:endParaRPr lang="en-US" sz="1300" dirty="0"/>
          </a:p>
          <a:p>
            <a:pPr indent="0" marL="0">
              <a:spcAft>
                <a:spcPts val="400"/>
              </a:spcAft>
              <a:buNone/>
            </a:pPr>
            <a:endParaRPr lang="en-US" sz="1300" dirty="0"/>
          </a:p>
          <a:p>
            <a:pPr indent="0" marL="0">
              <a:spcAft>
                <a:spcPts val="400"/>
              </a:spcAft>
              <a:buNone/>
            </a:pPr>
            <a:r>
              <a:rPr lang="en-US" sz="1300" b="1" dirty="0">
                <a:solidFill>
                  <a:srgbClr val="0E7C7B"/>
                </a:solidFill>
              </a:rPr>
              <a:t>You already do this: the model pin, the card, the tag.</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VI</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Four governance patterns, each with a file in the repository</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VI · Agents in ITSM today, and governance</a:t>
            </a:r>
            <a:endParaRPr lang="en-US" sz="10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926080"/>
                <a:gridCol w="4754880"/>
                <a:gridCol w="3410712"/>
              </a:tblGrid>
              <a:tr h="0">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c>
                  <a:txBody>
                    <a:bodyPr/>
                    <a:lstStyle/>
                    <a:p>
                      <a:pPr indent="0" marL="0">
                        <a:buNone/>
                      </a:pPr>
                      <a:r>
                        <a:rPr lang="en-US" sz="1200" b="1" dirty="0">
                          <a:solidFill>
                            <a:srgbClr val="F7F6F2"/>
                          </a:solidFill>
                          <a:latin typeface="Calibri" pitchFamily="34" charset="0"/>
                          <a:ea typeface="Calibri" pitchFamily="34" charset="-122"/>
                          <a:cs typeface="Calibri" pitchFamily="34" charset="-120"/>
                        </a:rPr>
                        <a:t>Here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14213D"/>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Deterministic gating layer</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Hard rules the agent cannot argue with, with its judgement inside them</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Tiers in schema files; dispatch</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Pre and post guardrails</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Checks before the action and verification after it</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Target-exists checks; before-image and after-image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Human-in-the-loop checkpoints</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High-risk actions need a named approver even after the agent assessed them</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The approval queue; --as NAME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Checkpointing and recovery</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State is saved so an interrupted workflow resumes without acting twice</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Idempotency keys; the Module 14 kill-mid-workflow scenario</a:t>
                      </a:r>
                      <a:endParaRPr lang="en-US" sz="1200" dirty="0">
                        <a:latin typeface="Calibri" charset="0"/>
                        <a:ea typeface="Calibri" charset="0"/>
                        <a:cs typeface="Calibri" charset="0"/>
                      </a:endParaRPr>
                    </a:p>
                  </a:txBody>
                  <a:tcPr marL="101600" marR="101600" marT="50800" marB="5080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rgbClr val="F7F6F2"/>
                    </a:solidFill>
                  </a:tcPr>
                </a:tc>
              </a:tr>
            </a:tbl>
          </a:graphicData>
        </a:graphic>
      </p:graphicFrame>
      <p:sp>
        <p:nvSpPr>
          <p:cNvPr id="7" name="Text 3"/>
          <p:cNvSpPr txBox="1"/>
          <p:nvPr/>
        </p:nvSpPr>
        <p:spPr>
          <a:xfrm>
            <a:off x="548640" y="4297680"/>
            <a:ext cx="11091672" cy="1554480"/>
          </a:xfrm>
          <a:prstGeom prst="rect">
            <a:avLst/>
          </a:prstGeom>
          <a:noFill/>
          <a:ln/>
        </p:spPr>
        <p:txBody>
          <a:bodyPr wrap="square" lIns="0" tIns="0" rIns="0" bIns="0" rtlCol="0" anchor="t"/>
          <a:lstStyle/>
          <a:p>
            <a:pPr indent="0" marL="0">
              <a:buNone/>
            </a:pPr>
            <a:r>
              <a:rPr lang="en-US" sz="1300" dirty="0">
                <a:solidFill>
                  <a:schemeClr val="tx2"/>
                </a:solidFill>
              </a:rPr>
              <a:t>Four questions traditional frameworks were not built to answer: who is accountable when an agent’s decision causes an outage; how its reasoning is reconstructed afterwards; which changes it may approve alone; when it hands off to a person. ITIL 4 already says what has to be managed when many semi-autonomous actors change a shared system. A working ITSM foundation governs agents better than none.</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5"/>
                </a:solidFill>
              </a:rPr>
              <a:t>PART VII</a:t>
            </a:r>
            <a:endParaRPr lang="en-US" sz="1100" dirty="0"/>
          </a:p>
        </p:txBody>
      </p:sp>
      <p:sp>
        <p:nvSpPr>
          <p:cNvPr id="3" name="Text 0"/>
          <p:cNvSpPr/>
          <p:nvPr>
            <p:ph idx="101" type="title" hasCustomPrompt="1"/>
          </p:nvPr>
        </p:nvSpPr>
        <p:spPr>
          <a:xfrm>
            <a:off x="548640" y="685800"/>
            <a:ext cx="11091672" cy="1097280"/>
          </a:xfrm>
          <a:prstGeom prst="rect">
            <a:avLst/>
          </a:prstGeom>
          <a:noFill/>
          <a:ln/>
        </p:spPr>
        <p:txBody>
          <a:bodyPr wrap="square" lIns="0" tIns="0" rIns="0" bIns="0" rtlCol="0" anchor="t"/>
          <a:lstStyle/>
          <a:p>
            <a:pPr algn="l" indent="0" marL="0">
              <a:buNone/>
            </a:pPr>
            <a:r>
              <a:rPr lang="en-US" sz="3000" b="1" dirty="0">
                <a:solidFill>
                  <a:schemeClr val="bg1"/>
                </a:solidFill>
              </a:rPr>
              <a:t>Six things to keep</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8A97B5"/>
                </a:solidFill>
              </a:rPr>
              <a:t>Part VII · Synthesis</a:t>
            </a:r>
            <a:endParaRPr lang="en-US" sz="1000" dirty="0"/>
          </a:p>
        </p:txBody>
      </p:sp>
      <p:sp>
        <p:nvSpPr>
          <p:cNvPr id="6" name="card"/>
          <p:cNvSpPr/>
          <p:nvPr/>
        </p:nvSpPr>
        <p:spPr>
          <a:xfrm>
            <a:off x="548640" y="1783080"/>
            <a:ext cx="5431536" cy="1295400"/>
          </a:xfrm>
          <a:prstGeom prst="roundRect">
            <a:avLst>
              <a:gd name="adj" fmla="val 8471"/>
            </a:avLst>
          </a:prstGeom>
          <a:solidFill>
            <a:schemeClr val="accent6"/>
          </a:solidFill>
          <a:ln w="9525">
            <a:solidFill>
              <a:srgbClr val="1F2F55"/>
            </a:solidFill>
            <a:prstDash val="solid"/>
          </a:ln>
        </p:spPr>
      </p:sp>
      <p:sp>
        <p:nvSpPr>
          <p:cNvPr id="7" name="Text 4"/>
          <p:cNvSpPr txBox="1"/>
          <p:nvPr/>
        </p:nvSpPr>
        <p:spPr>
          <a:xfrm>
            <a:off x="749808" y="1947672"/>
            <a:ext cx="5029200" cy="274320"/>
          </a:xfrm>
          <a:prstGeom prst="rect">
            <a:avLst/>
          </a:prstGeom>
          <a:noFill/>
          <a:ln/>
        </p:spPr>
        <p:txBody>
          <a:bodyPr wrap="square" lIns="0" tIns="0" rIns="0" bIns="0" rtlCol="0" anchor="ctr"/>
          <a:lstStyle/>
          <a:p>
            <a:pPr indent="0" marL="0">
              <a:buNone/>
            </a:pPr>
            <a:r>
              <a:rPr lang="en-US" sz="1100" b="1" dirty="0">
                <a:solidFill>
                  <a:srgbClr val="7FC8C6"/>
                </a:solidFill>
              </a:rPr>
              <a:t>1</a:t>
            </a:r>
            <a:endParaRPr lang="en-US" sz="1100" dirty="0"/>
          </a:p>
        </p:txBody>
      </p:sp>
      <p:sp>
        <p:nvSpPr>
          <p:cNvPr id="8" name="Text 5"/>
          <p:cNvSpPr txBox="1"/>
          <p:nvPr/>
        </p:nvSpPr>
        <p:spPr>
          <a:xfrm>
            <a:off x="749808" y="2240280"/>
            <a:ext cx="5029200" cy="701040"/>
          </a:xfrm>
          <a:prstGeom prst="rect">
            <a:avLst/>
          </a:prstGeom>
          <a:noFill/>
          <a:ln/>
        </p:spPr>
        <p:txBody>
          <a:bodyPr wrap="square" lIns="0" tIns="0" rIns="0" bIns="0" rtlCol="0" anchor="t"/>
          <a:lstStyle/>
          <a:p>
            <a:pPr indent="0" marL="0">
              <a:spcAft>
                <a:spcPts val="400"/>
              </a:spcAft>
              <a:buNone/>
            </a:pPr>
            <a:r>
              <a:rPr lang="en-US" sz="1300" dirty="0">
                <a:solidFill>
                  <a:srgbClr val="F7F6F2"/>
                </a:solidFill>
              </a:rPr>
              <a:t>Agentic workflows move automation from fixed sequences to goal-directed steps inside a defined flow. The flow is where the control lives.</a:t>
            </a:r>
            <a:endParaRPr lang="en-US" sz="1300" dirty="0"/>
          </a:p>
        </p:txBody>
      </p:sp>
      <p:sp>
        <p:nvSpPr>
          <p:cNvPr id="9" name="card"/>
          <p:cNvSpPr/>
          <p:nvPr/>
        </p:nvSpPr>
        <p:spPr>
          <a:xfrm>
            <a:off x="6208776" y="1783080"/>
            <a:ext cx="5431536" cy="1295400"/>
          </a:xfrm>
          <a:prstGeom prst="roundRect">
            <a:avLst>
              <a:gd name="adj" fmla="val 8471"/>
            </a:avLst>
          </a:prstGeom>
          <a:solidFill>
            <a:schemeClr val="accent6"/>
          </a:solidFill>
          <a:ln w="9525">
            <a:solidFill>
              <a:srgbClr val="1F2F55"/>
            </a:solidFill>
            <a:prstDash val="solid"/>
          </a:ln>
        </p:spPr>
      </p:sp>
      <p:sp>
        <p:nvSpPr>
          <p:cNvPr id="10" name="Text 7"/>
          <p:cNvSpPr txBox="1"/>
          <p:nvPr/>
        </p:nvSpPr>
        <p:spPr>
          <a:xfrm>
            <a:off x="6409944" y="1947672"/>
            <a:ext cx="5029200" cy="274320"/>
          </a:xfrm>
          <a:prstGeom prst="rect">
            <a:avLst/>
          </a:prstGeom>
          <a:noFill/>
          <a:ln/>
        </p:spPr>
        <p:txBody>
          <a:bodyPr wrap="square" lIns="0" tIns="0" rIns="0" bIns="0" rtlCol="0" anchor="ctr"/>
          <a:lstStyle/>
          <a:p>
            <a:pPr indent="0" marL="0">
              <a:buNone/>
            </a:pPr>
            <a:r>
              <a:rPr lang="en-US" sz="1100" b="1" dirty="0">
                <a:solidFill>
                  <a:srgbClr val="7FC8C6"/>
                </a:solidFill>
              </a:rPr>
              <a:t>2</a:t>
            </a:r>
            <a:endParaRPr lang="en-US" sz="1100" dirty="0"/>
          </a:p>
        </p:txBody>
      </p:sp>
      <p:sp>
        <p:nvSpPr>
          <p:cNvPr id="11" name="Text 8"/>
          <p:cNvSpPr txBox="1"/>
          <p:nvPr/>
        </p:nvSpPr>
        <p:spPr>
          <a:xfrm>
            <a:off x="6409944" y="2240280"/>
            <a:ext cx="5029200" cy="701040"/>
          </a:xfrm>
          <a:prstGeom prst="rect">
            <a:avLst/>
          </a:prstGeom>
          <a:noFill/>
          <a:ln/>
        </p:spPr>
        <p:txBody>
          <a:bodyPr wrap="square" lIns="0" tIns="0" rIns="0" bIns="0" rtlCol="0" anchor="t"/>
          <a:lstStyle/>
          <a:p>
            <a:pPr indent="0" marL="0">
              <a:spcAft>
                <a:spcPts val="400"/>
              </a:spcAft>
              <a:buNone/>
            </a:pPr>
            <a:r>
              <a:rPr lang="en-US" sz="1300" dirty="0">
                <a:solidFill>
                  <a:srgbClr val="F7F6F2"/>
                </a:solidFill>
              </a:rPr>
              <a:t>ITIL 4’s three practices are the governance frame, and they map onto tiers, tags and pulls in this repository.</a:t>
            </a:r>
            <a:endParaRPr lang="en-US" sz="1300" dirty="0"/>
          </a:p>
        </p:txBody>
      </p:sp>
      <p:sp>
        <p:nvSpPr>
          <p:cNvPr id="12" name="card"/>
          <p:cNvSpPr/>
          <p:nvPr/>
        </p:nvSpPr>
        <p:spPr>
          <a:xfrm>
            <a:off x="548640" y="3307080"/>
            <a:ext cx="5431536" cy="1295400"/>
          </a:xfrm>
          <a:prstGeom prst="roundRect">
            <a:avLst>
              <a:gd name="adj" fmla="val 8471"/>
            </a:avLst>
          </a:prstGeom>
          <a:solidFill>
            <a:schemeClr val="accent6"/>
          </a:solidFill>
          <a:ln w="9525">
            <a:solidFill>
              <a:srgbClr val="1F2F55"/>
            </a:solidFill>
            <a:prstDash val="solid"/>
          </a:ln>
        </p:spPr>
      </p:sp>
      <p:sp>
        <p:nvSpPr>
          <p:cNvPr id="13" name="Text 10"/>
          <p:cNvSpPr txBox="1"/>
          <p:nvPr/>
        </p:nvSpPr>
        <p:spPr>
          <a:xfrm>
            <a:off x="749808" y="3471672"/>
            <a:ext cx="5029200" cy="274320"/>
          </a:xfrm>
          <a:prstGeom prst="rect">
            <a:avLst/>
          </a:prstGeom>
          <a:noFill/>
          <a:ln/>
        </p:spPr>
        <p:txBody>
          <a:bodyPr wrap="square" lIns="0" tIns="0" rIns="0" bIns="0" rtlCol="0" anchor="ctr"/>
          <a:lstStyle/>
          <a:p>
            <a:pPr indent="0" marL="0">
              <a:buNone/>
            </a:pPr>
            <a:r>
              <a:rPr lang="en-US" sz="1100" b="1" dirty="0">
                <a:solidFill>
                  <a:srgbClr val="7FC8C6"/>
                </a:solidFill>
              </a:rPr>
              <a:t>3</a:t>
            </a:r>
            <a:endParaRPr lang="en-US" sz="1100" dirty="0"/>
          </a:p>
        </p:txBody>
      </p:sp>
      <p:sp>
        <p:nvSpPr>
          <p:cNvPr id="14" name="Text 11"/>
          <p:cNvSpPr txBox="1"/>
          <p:nvPr/>
        </p:nvSpPr>
        <p:spPr>
          <a:xfrm>
            <a:off x="749808" y="3764280"/>
            <a:ext cx="5029200" cy="701040"/>
          </a:xfrm>
          <a:prstGeom prst="rect">
            <a:avLst/>
          </a:prstGeom>
          <a:noFill/>
          <a:ln/>
        </p:spPr>
        <p:txBody>
          <a:bodyPr wrap="square" lIns="0" tIns="0" rIns="0" bIns="0" rtlCol="0" anchor="t"/>
          <a:lstStyle/>
          <a:p>
            <a:pPr indent="0" marL="0">
              <a:spcAft>
                <a:spcPts val="400"/>
              </a:spcAft>
              <a:buNone/>
            </a:pPr>
            <a:r>
              <a:rPr lang="en-US" sz="1300" dirty="0">
                <a:solidFill>
                  <a:srgbClr val="F7F6F2"/>
                </a:solidFill>
              </a:rPr>
              <a:t>Agents are mature for triage and retrieval, emerging for requests, least proven for change and release. Climb in that order.</a:t>
            </a:r>
            <a:endParaRPr lang="en-US" sz="1300" dirty="0"/>
          </a:p>
        </p:txBody>
      </p:sp>
      <p:sp>
        <p:nvSpPr>
          <p:cNvPr id="15" name="card"/>
          <p:cNvSpPr/>
          <p:nvPr/>
        </p:nvSpPr>
        <p:spPr>
          <a:xfrm>
            <a:off x="6208776" y="3307080"/>
            <a:ext cx="5431536" cy="1295400"/>
          </a:xfrm>
          <a:prstGeom prst="roundRect">
            <a:avLst>
              <a:gd name="adj" fmla="val 8471"/>
            </a:avLst>
          </a:prstGeom>
          <a:solidFill>
            <a:schemeClr val="accent1"/>
          </a:solidFill>
          <a:ln w="9525">
            <a:solidFill>
              <a:srgbClr val="0E7C7B"/>
            </a:solidFill>
            <a:prstDash val="solid"/>
          </a:ln>
        </p:spPr>
      </p:sp>
      <p:sp>
        <p:nvSpPr>
          <p:cNvPr id="16" name="Text 13"/>
          <p:cNvSpPr txBox="1"/>
          <p:nvPr/>
        </p:nvSpPr>
        <p:spPr>
          <a:xfrm>
            <a:off x="6409944" y="3471672"/>
            <a:ext cx="5029200" cy="274320"/>
          </a:xfrm>
          <a:prstGeom prst="rect">
            <a:avLst/>
          </a:prstGeom>
          <a:noFill/>
          <a:ln/>
        </p:spPr>
        <p:txBody>
          <a:bodyPr wrap="square" lIns="0" tIns="0" rIns="0" bIns="0" rtlCol="0" anchor="ctr"/>
          <a:lstStyle/>
          <a:p>
            <a:pPr indent="0" marL="0">
              <a:buNone/>
            </a:pPr>
            <a:r>
              <a:rPr lang="en-US" sz="1100" b="1" dirty="0">
                <a:solidFill>
                  <a:srgbClr val="D7EFEE"/>
                </a:solidFill>
              </a:rPr>
              <a:t>4</a:t>
            </a:r>
            <a:endParaRPr lang="en-US" sz="1100" dirty="0"/>
          </a:p>
        </p:txBody>
      </p:sp>
      <p:sp>
        <p:nvSpPr>
          <p:cNvPr id="17" name="Text 14"/>
          <p:cNvSpPr txBox="1"/>
          <p:nvPr/>
        </p:nvSpPr>
        <p:spPr>
          <a:xfrm>
            <a:off x="6409944" y="3764280"/>
            <a:ext cx="5029200" cy="701040"/>
          </a:xfrm>
          <a:prstGeom prst="rect">
            <a:avLst/>
          </a:prstGeom>
          <a:noFill/>
          <a:ln/>
        </p:spPr>
        <p:txBody>
          <a:bodyPr wrap="square" lIns="0" tIns="0" rIns="0" bIns="0" rtlCol="0" anchor="t"/>
          <a:lstStyle/>
          <a:p>
            <a:pPr indent="0" marL="0">
              <a:spcAft>
                <a:spcPts val="400"/>
              </a:spcAft>
              <a:buNone/>
            </a:pPr>
            <a:r>
              <a:rPr lang="en-US" sz="1300" dirty="0">
                <a:solidFill>
                  <a:srgbClr val="F7F6F2"/>
                </a:solidFill>
              </a:rPr>
              <a:t>Analytics is not a feature of the agent; it is the loop the agent runs in. Descriptive before, predictive inside, prescriptive at the tier boundary, diagnostic after.</a:t>
            </a:r>
            <a:endParaRPr lang="en-US" sz="1300" dirty="0"/>
          </a:p>
        </p:txBody>
      </p:sp>
      <p:sp>
        <p:nvSpPr>
          <p:cNvPr id="18" name="card"/>
          <p:cNvSpPr/>
          <p:nvPr/>
        </p:nvSpPr>
        <p:spPr>
          <a:xfrm>
            <a:off x="548640" y="4831080"/>
            <a:ext cx="5431536" cy="1295400"/>
          </a:xfrm>
          <a:prstGeom prst="roundRect">
            <a:avLst>
              <a:gd name="adj" fmla="val 8471"/>
            </a:avLst>
          </a:prstGeom>
          <a:solidFill>
            <a:schemeClr val="accent6"/>
          </a:solidFill>
          <a:ln w="9525">
            <a:solidFill>
              <a:srgbClr val="1F2F55"/>
            </a:solidFill>
            <a:prstDash val="solid"/>
          </a:ln>
        </p:spPr>
      </p:sp>
      <p:sp>
        <p:nvSpPr>
          <p:cNvPr id="19" name="Text 16"/>
          <p:cNvSpPr txBox="1"/>
          <p:nvPr/>
        </p:nvSpPr>
        <p:spPr>
          <a:xfrm>
            <a:off x="749808" y="4995672"/>
            <a:ext cx="5029200" cy="274320"/>
          </a:xfrm>
          <a:prstGeom prst="rect">
            <a:avLst/>
          </a:prstGeom>
          <a:noFill/>
          <a:ln/>
        </p:spPr>
        <p:txBody>
          <a:bodyPr wrap="square" lIns="0" tIns="0" rIns="0" bIns="0" rtlCol="0" anchor="ctr"/>
          <a:lstStyle/>
          <a:p>
            <a:pPr indent="0" marL="0">
              <a:buNone/>
            </a:pPr>
            <a:r>
              <a:rPr lang="en-US" sz="1100" b="1" dirty="0">
                <a:solidFill>
                  <a:srgbClr val="7FC8C6"/>
                </a:solidFill>
              </a:rPr>
              <a:t>5</a:t>
            </a:r>
            <a:endParaRPr lang="en-US" sz="1100" dirty="0"/>
          </a:p>
        </p:txBody>
      </p:sp>
      <p:sp>
        <p:nvSpPr>
          <p:cNvPr id="20" name="Text 17"/>
          <p:cNvSpPr txBox="1"/>
          <p:nvPr/>
        </p:nvSpPr>
        <p:spPr>
          <a:xfrm>
            <a:off x="749808" y="5288280"/>
            <a:ext cx="5029200" cy="701040"/>
          </a:xfrm>
          <a:prstGeom prst="rect">
            <a:avLst/>
          </a:prstGeom>
          <a:noFill/>
          <a:ln/>
        </p:spPr>
        <p:txBody>
          <a:bodyPr wrap="square" lIns="0" tIns="0" rIns="0" bIns="0" rtlCol="0" anchor="t"/>
          <a:lstStyle/>
          <a:p>
            <a:pPr indent="0" marL="0">
              <a:spcAft>
                <a:spcPts val="400"/>
              </a:spcAft>
              <a:buNone/>
            </a:pPr>
            <a:r>
              <a:rPr lang="en-US" sz="1300" dirty="0">
                <a:solidFill>
                  <a:srgbClr val="F7F6F2"/>
                </a:solidFill>
              </a:rPr>
              <a:t>The data foundation is an analytics problem, found by computing the KPIs first.</a:t>
            </a:r>
            <a:endParaRPr lang="en-US" sz="1300" dirty="0"/>
          </a:p>
        </p:txBody>
      </p:sp>
      <p:sp>
        <p:nvSpPr>
          <p:cNvPr id="21" name="card"/>
          <p:cNvSpPr/>
          <p:nvPr/>
        </p:nvSpPr>
        <p:spPr>
          <a:xfrm>
            <a:off x="6208776" y="4831080"/>
            <a:ext cx="5431536" cy="1295400"/>
          </a:xfrm>
          <a:prstGeom prst="roundRect">
            <a:avLst>
              <a:gd name="adj" fmla="val 8471"/>
            </a:avLst>
          </a:prstGeom>
          <a:solidFill>
            <a:schemeClr val="accent6"/>
          </a:solidFill>
          <a:ln w="9525">
            <a:solidFill>
              <a:srgbClr val="1F2F55"/>
            </a:solidFill>
            <a:prstDash val="solid"/>
          </a:ln>
        </p:spPr>
      </p:sp>
      <p:sp>
        <p:nvSpPr>
          <p:cNvPr id="22" name="Text 19"/>
          <p:cNvSpPr txBox="1"/>
          <p:nvPr/>
        </p:nvSpPr>
        <p:spPr>
          <a:xfrm>
            <a:off x="6409944" y="4995672"/>
            <a:ext cx="5029200" cy="274320"/>
          </a:xfrm>
          <a:prstGeom prst="rect">
            <a:avLst/>
          </a:prstGeom>
          <a:noFill/>
          <a:ln/>
        </p:spPr>
        <p:txBody>
          <a:bodyPr wrap="square" lIns="0" tIns="0" rIns="0" bIns="0" rtlCol="0" anchor="ctr"/>
          <a:lstStyle/>
          <a:p>
            <a:pPr indent="0" marL="0">
              <a:buNone/>
            </a:pPr>
            <a:r>
              <a:rPr lang="en-US" sz="1100" b="1" dirty="0">
                <a:solidFill>
                  <a:srgbClr val="7FC8C6"/>
                </a:solidFill>
              </a:rPr>
              <a:t>6</a:t>
            </a:r>
            <a:endParaRPr lang="en-US" sz="1100" dirty="0"/>
          </a:p>
        </p:txBody>
      </p:sp>
      <p:sp>
        <p:nvSpPr>
          <p:cNvPr id="23" name="Text 20"/>
          <p:cNvSpPr txBox="1"/>
          <p:nvPr/>
        </p:nvSpPr>
        <p:spPr>
          <a:xfrm>
            <a:off x="6409944" y="5288280"/>
            <a:ext cx="5029200" cy="701040"/>
          </a:xfrm>
          <a:prstGeom prst="rect">
            <a:avLst/>
          </a:prstGeom>
          <a:noFill/>
          <a:ln/>
        </p:spPr>
        <p:txBody>
          <a:bodyPr wrap="square" lIns="0" tIns="0" rIns="0" bIns="0" rtlCol="0" anchor="t"/>
          <a:lstStyle/>
          <a:p>
            <a:pPr indent="0" marL="0">
              <a:spcAft>
                <a:spcPts val="400"/>
              </a:spcAft>
              <a:buNone/>
            </a:pPr>
            <a:r>
              <a:rPr lang="en-US" sz="1300" dirty="0">
                <a:solidFill>
                  <a:srgbClr val="F7F6F2"/>
                </a:solidFill>
              </a:rPr>
              <a:t>An agent is software to be released: prompts, policies, models, versioned and gated.</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B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VII</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Discussion</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VII · Discussion</a:t>
            </a:r>
            <a:endParaRPr lang="en-US" sz="1000" dirty="0"/>
          </a:p>
        </p:txBody>
      </p:sp>
      <p:sp>
        <p:nvSpPr>
          <p:cNvPr id="6" name="card"/>
          <p:cNvSpPr/>
          <p:nvPr/>
        </p:nvSpPr>
        <p:spPr>
          <a:xfrm>
            <a:off x="548640" y="1737360"/>
            <a:ext cx="5431536" cy="2080260"/>
          </a:xfrm>
          <a:prstGeom prst="roundRect">
            <a:avLst>
              <a:gd name="adj" fmla="val 5275"/>
            </a:avLst>
          </a:prstGeom>
          <a:solidFill>
            <a:schemeClr val="bg2"/>
          </a:solidFill>
          <a:ln w="9525">
            <a:solidFill>
              <a:srgbClr val="E3E1DA"/>
            </a:solidFill>
            <a:prstDash val="solid"/>
          </a:ln>
        </p:spPr>
      </p:sp>
      <p:sp>
        <p:nvSpPr>
          <p:cNvPr id="7" name="Text 4"/>
          <p:cNvSpPr txBox="1"/>
          <p:nvPr/>
        </p:nvSpPr>
        <p:spPr>
          <a:xfrm>
            <a:off x="749808" y="190195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Accountability</a:t>
            </a:r>
            <a:endParaRPr lang="en-US" sz="1100" dirty="0"/>
          </a:p>
        </p:txBody>
      </p:sp>
      <p:sp>
        <p:nvSpPr>
          <p:cNvPr id="8" name="Text 5"/>
          <p:cNvSpPr txBox="1"/>
          <p:nvPr/>
        </p:nvSpPr>
        <p:spPr>
          <a:xfrm>
            <a:off x="749808" y="2194560"/>
            <a:ext cx="5029200" cy="148590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An agent auto-approves a standard change that causes a major outage. Who is accountable: the builders, the change manager who set the autonomy threshold, or the CAB that delegated the authority? Design the rule in three sentences.</a:t>
            </a:r>
            <a:endParaRPr lang="en-US" sz="1400" dirty="0"/>
          </a:p>
        </p:txBody>
      </p:sp>
      <p:sp>
        <p:nvSpPr>
          <p:cNvPr id="9" name="card"/>
          <p:cNvSpPr/>
          <p:nvPr/>
        </p:nvSpPr>
        <p:spPr>
          <a:xfrm>
            <a:off x="6208776" y="1737360"/>
            <a:ext cx="5431536" cy="2080260"/>
          </a:xfrm>
          <a:prstGeom prst="roundRect">
            <a:avLst>
              <a:gd name="adj" fmla="val 5275"/>
            </a:avLst>
          </a:prstGeom>
          <a:solidFill>
            <a:schemeClr val="bg2"/>
          </a:solidFill>
          <a:ln w="9525">
            <a:solidFill>
              <a:srgbClr val="E3E1DA"/>
            </a:solidFill>
            <a:prstDash val="solid"/>
          </a:ln>
        </p:spPr>
      </p:sp>
      <p:sp>
        <p:nvSpPr>
          <p:cNvPr id="10" name="Text 7"/>
          <p:cNvSpPr txBox="1"/>
          <p:nvPr/>
        </p:nvSpPr>
        <p:spPr>
          <a:xfrm>
            <a:off x="6409944" y="190195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Data first</a:t>
            </a:r>
            <a:endParaRPr lang="en-US" sz="1100" dirty="0"/>
          </a:p>
        </p:txBody>
      </p:sp>
      <p:sp>
        <p:nvSpPr>
          <p:cNvPr id="11" name="Text 8"/>
          <p:cNvSpPr txBox="1"/>
          <p:nvPr/>
        </p:nvSpPr>
        <p:spPr>
          <a:xfrm>
            <a:off x="6409944" y="2194560"/>
            <a:ext cx="5029200" cy="148590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 company with a half-accurate CMDB wants a change manager agent. What do you measure before deploying anything, and what guardrails hold for the first six months?</a:t>
            </a:r>
            <a:endParaRPr lang="en-US" sz="1400" dirty="0"/>
          </a:p>
        </p:txBody>
      </p:sp>
      <p:sp>
        <p:nvSpPr>
          <p:cNvPr id="12" name="card"/>
          <p:cNvSpPr/>
          <p:nvPr/>
        </p:nvSpPr>
        <p:spPr>
          <a:xfrm>
            <a:off x="548640" y="4046220"/>
            <a:ext cx="5431536" cy="2080260"/>
          </a:xfrm>
          <a:prstGeom prst="roundRect">
            <a:avLst>
              <a:gd name="adj" fmla="val 5275"/>
            </a:avLst>
          </a:prstGeom>
          <a:solidFill>
            <a:schemeClr val="bg2"/>
          </a:solidFill>
          <a:ln w="9525">
            <a:solidFill>
              <a:srgbClr val="E3E1DA"/>
            </a:solidFill>
            <a:prstDash val="solid"/>
          </a:ln>
        </p:spPr>
      </p:sp>
      <p:sp>
        <p:nvSpPr>
          <p:cNvPr id="13" name="Text 10"/>
          <p:cNvSpPr txBox="1"/>
          <p:nvPr/>
        </p:nvSpPr>
        <p:spPr>
          <a:xfrm>
            <a:off x="749808" y="421081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The review as a standing report</a:t>
            </a:r>
            <a:endParaRPr lang="en-US" sz="1100" dirty="0"/>
          </a:p>
        </p:txBody>
      </p:sp>
      <p:sp>
        <p:nvSpPr>
          <p:cNvPr id="14" name="Text 11"/>
          <p:cNvSpPr txBox="1"/>
          <p:nvPr/>
        </p:nvSpPr>
        <p:spPr>
          <a:xfrm>
            <a:off x="749808" y="4503420"/>
            <a:ext cx="5029200" cy="148590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The Module 8 change-impact method run after every change: which of the four kinds is it, what threshold would you set on the ratio, and what do you do with a result that depends on the window length?</a:t>
            </a:r>
            <a:endParaRPr lang="en-US" sz="1400" dirty="0"/>
          </a:p>
        </p:txBody>
      </p:sp>
      <p:sp>
        <p:nvSpPr>
          <p:cNvPr id="15" name="card"/>
          <p:cNvSpPr/>
          <p:nvPr/>
        </p:nvSpPr>
        <p:spPr>
          <a:xfrm>
            <a:off x="6208776" y="4046220"/>
            <a:ext cx="5431536" cy="2080260"/>
          </a:xfrm>
          <a:prstGeom prst="roundRect">
            <a:avLst>
              <a:gd name="adj" fmla="val 5275"/>
            </a:avLst>
          </a:prstGeom>
          <a:solidFill>
            <a:schemeClr val="bg2"/>
          </a:solidFill>
          <a:ln w="9525">
            <a:solidFill>
              <a:srgbClr val="E3E1DA"/>
            </a:solidFill>
            <a:prstDash val="solid"/>
          </a:ln>
        </p:spPr>
      </p:sp>
      <p:sp>
        <p:nvSpPr>
          <p:cNvPr id="16" name="Text 13"/>
          <p:cNvSpPr txBox="1"/>
          <p:nvPr/>
        </p:nvSpPr>
        <p:spPr>
          <a:xfrm>
            <a:off x="6409944" y="4210812"/>
            <a:ext cx="5029200" cy="274320"/>
          </a:xfrm>
          <a:prstGeom prst="rect">
            <a:avLst/>
          </a:prstGeom>
          <a:noFill/>
          <a:ln/>
        </p:spPr>
        <p:txBody>
          <a:bodyPr wrap="square" lIns="0" tIns="0" rIns="0" bIns="0" rtlCol="0" anchor="ctr"/>
          <a:lstStyle/>
          <a:p>
            <a:pPr indent="0" marL="0">
              <a:buNone/>
            </a:pPr>
            <a:r>
              <a:rPr lang="en-US" sz="1100" b="1" dirty="0">
                <a:solidFill>
                  <a:schemeClr val="accent1"/>
                </a:solidFill>
              </a:rPr>
              <a:t>ReleaseOps</a:t>
            </a:r>
            <a:endParaRPr lang="en-US" sz="1100" dirty="0"/>
          </a:p>
        </p:txBody>
      </p:sp>
      <p:sp>
        <p:nvSpPr>
          <p:cNvPr id="17" name="Text 14"/>
          <p:cNvSpPr txBox="1"/>
          <p:nvPr/>
        </p:nvSpPr>
        <p:spPr>
          <a:xfrm>
            <a:off x="6409944" y="4503420"/>
            <a:ext cx="5029200" cy="148590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Prompts and model configurations as versioned artifacts. What belongs in the release notes of an agent behaviour change, and who should have to approve it?</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20040"/>
          </a:xfrm>
          <a:prstGeom prst="rect">
            <a:avLst/>
          </a:prstGeom>
          <a:noFill/>
          <a:ln/>
        </p:spPr>
        <p:txBody>
          <a:bodyPr wrap="square" lIns="0" tIns="0" rIns="0" bIns="0" rtlCol="0"/>
          <a:lstStyle/>
          <a:p>
            <a:pPr indent="0" marL="0">
              <a:buNone/>
            </a:pPr>
            <a:r>
              <a:rPr lang="en-US" sz="1100" b="1" spc="200" kern="0" dirty="0">
                <a:solidFill>
                  <a:schemeClr val="accent1"/>
                </a:solidFill>
              </a:rPr>
              <a:t>PART VII · EXERCISE, 10 MINUTES IF TIME ALLOWS</a:t>
            </a:r>
            <a:endParaRPr lang="en-US" sz="1100" dirty="0"/>
          </a:p>
        </p:txBody>
      </p:sp>
      <p:sp>
        <p:nvSpPr>
          <p:cNvPr id="3" name="Text 0"/>
          <p:cNvSpPr/>
          <p:nvPr>
            <p:ph idx="101" type="title" hasCustomPrompt="1"/>
          </p:nvPr>
        </p:nvSpPr>
        <p:spPr>
          <a:xfrm>
            <a:off x="548640" y="685800"/>
            <a:ext cx="11091672" cy="868680"/>
          </a:xfrm>
          <a:prstGeom prst="rect">
            <a:avLst/>
          </a:prstGeom>
          <a:noFill/>
          <a:ln/>
        </p:spPr>
        <p:txBody>
          <a:bodyPr wrap="square" lIns="0" tIns="0" rIns="0" bIns="0" rtlCol="0" anchor="t"/>
          <a:lstStyle/>
          <a:p>
            <a:pPr algn="l" indent="0" marL="0">
              <a:buNone/>
            </a:pPr>
            <a:r>
              <a:rPr lang="en-US" sz="3000" b="1" dirty="0">
                <a:solidFill>
                  <a:schemeClr val="tx1"/>
                </a:solidFill>
              </a:rPr>
              <a:t>Design the pilot: a one-page memo</a:t>
            </a:r>
            <a:endParaRPr lang="en-US" sz="3000" dirty="0"/>
          </a:p>
        </p:txBody>
      </p:sp>
      <p:sp>
        <p:nvSpPr>
          <p:cNvPr id="4" name="Text 0"/>
          <p:cNvSpPr/>
          <p:nvPr>
            <p:ph idx="102" type="body" hasCustomPrompt="1"/>
          </p:nvPr>
        </p:nvSpPr>
        <p:spPr>
          <a:xfrm>
            <a:off x="548640" y="6355080"/>
            <a:ext cx="8229600" cy="274320"/>
          </a:xfrm>
          <a:prstGeom prst="rect">
            <a:avLst/>
          </a:prstGeom>
          <a:noFill/>
          <a:ln/>
        </p:spPr>
        <p:txBody>
          <a:bodyPr wrap="square" lIns="0" tIns="0" rIns="0" bIns="0" rtlCol="0"/>
          <a:lstStyle/>
          <a:p>
            <a:pPr indent="0" marL="0">
              <a:buNone/>
            </a:pPr>
            <a:r>
              <a:rPr lang="en-US" sz="1000" dirty="0">
                <a:solidFill>
                  <a:srgbClr val="6A7179"/>
                </a:solidFill>
              </a:rPr>
              <a:t>Part VII · Exercise · Readings and vocabulary are in the lecture notes</a:t>
            </a:r>
            <a:endParaRPr lang="en-US" sz="1000" dirty="0"/>
          </a:p>
        </p:txBody>
      </p:sp>
      <p:sp>
        <p:nvSpPr>
          <p:cNvPr id="6" name="card"/>
          <p:cNvSpPr/>
          <p:nvPr/>
        </p:nvSpPr>
        <p:spPr>
          <a:xfrm>
            <a:off x="548640" y="1737360"/>
            <a:ext cx="5431536" cy="3566160"/>
          </a:xfrm>
          <a:prstGeom prst="roundRect">
            <a:avLst>
              <a:gd name="adj" fmla="val 3077"/>
            </a:avLst>
          </a:prstGeom>
          <a:solidFill>
            <a:schemeClr val="tx1"/>
          </a:solidFill>
          <a:ln w="9525">
            <a:solidFill>
              <a:srgbClr val="14213D"/>
            </a:solidFill>
            <a:prstDash val="solid"/>
          </a:ln>
        </p:spPr>
      </p:sp>
      <p:sp>
        <p:nvSpPr>
          <p:cNvPr id="7" name="Text 4"/>
          <p:cNvSpPr txBox="1"/>
          <p:nvPr/>
        </p:nvSpPr>
        <p:spPr>
          <a:xfrm>
            <a:off x="749808" y="1901952"/>
            <a:ext cx="5029200" cy="411480"/>
          </a:xfrm>
          <a:prstGeom prst="rect">
            <a:avLst/>
          </a:prstGeom>
          <a:noFill/>
          <a:ln/>
        </p:spPr>
        <p:txBody>
          <a:bodyPr wrap="square" lIns="0" tIns="0" rIns="0" bIns="0" rtlCol="0" anchor="t"/>
          <a:lstStyle/>
          <a:p>
            <a:pPr indent="0" marL="0">
              <a:buNone/>
            </a:pPr>
            <a:r>
              <a:rPr lang="en-US" sz="1600" b="1" dirty="0">
                <a:solidFill>
                  <a:srgbClr val="F7F6F2"/>
                </a:solidFill>
              </a:rPr>
              <a:t>The situation</a:t>
            </a:r>
            <a:endParaRPr lang="en-US" sz="1600" dirty="0"/>
          </a:p>
        </p:txBody>
      </p:sp>
      <p:sp>
        <p:nvSpPr>
          <p:cNvPr id="8" name="Text 5"/>
          <p:cNvSpPr txBox="1"/>
          <p:nvPr/>
        </p:nvSpPr>
        <p:spPr>
          <a:xfrm>
            <a:off x="749808" y="2359152"/>
            <a:ext cx="5029200" cy="2807208"/>
          </a:xfrm>
          <a:prstGeom prst="rect">
            <a:avLst/>
          </a:prstGeom>
          <a:noFill/>
          <a:ln/>
        </p:spPr>
        <p:txBody>
          <a:bodyPr wrap="square" lIns="0" tIns="0" rIns="0" bIns="0" rtlCol="0" anchor="t"/>
          <a:lstStyle/>
          <a:p>
            <a:pPr indent="0" marL="0">
              <a:spcAft>
                <a:spcPts val="400"/>
              </a:spcAft>
              <a:buNone/>
            </a:pPr>
            <a:r>
              <a:rPr lang="en-US" sz="1400" dirty="0">
                <a:solidFill>
                  <a:srgbClr val="BFD8D5"/>
                </a:solidFill>
              </a:rPr>
              <a:t>You are the ITSM lead at a 2,000-person company. 400 to 500 normal changes a month. A weekly CAB that runs three hours. A 12 percent change failure rate. Leadership has approved a pilot of a change manager agent.</a:t>
            </a:r>
            <a:endParaRPr lang="en-US" sz="1400" dirty="0"/>
          </a:p>
        </p:txBody>
      </p:sp>
      <p:sp>
        <p:nvSpPr>
          <p:cNvPr id="9" name="card"/>
          <p:cNvSpPr/>
          <p:nvPr/>
        </p:nvSpPr>
        <p:spPr>
          <a:xfrm>
            <a:off x="6208776" y="1737360"/>
            <a:ext cx="5431536" cy="3566160"/>
          </a:xfrm>
          <a:prstGeom prst="roundRect">
            <a:avLst>
              <a:gd name="adj" fmla="val 3077"/>
            </a:avLst>
          </a:prstGeom>
          <a:solidFill>
            <a:schemeClr val="bg2"/>
          </a:solidFill>
          <a:ln w="9525">
            <a:solidFill>
              <a:srgbClr val="E3E1DA"/>
            </a:solidFill>
            <a:prstDash val="solid"/>
          </a:ln>
        </p:spPr>
      </p:sp>
      <p:sp>
        <p:nvSpPr>
          <p:cNvPr id="10" name="Text 7"/>
          <p:cNvSpPr txBox="1"/>
          <p:nvPr/>
        </p:nvSpPr>
        <p:spPr>
          <a:xfrm>
            <a:off x="6409944" y="1901952"/>
            <a:ext cx="5029200" cy="411480"/>
          </a:xfrm>
          <a:prstGeom prst="rect">
            <a:avLst/>
          </a:prstGeom>
          <a:noFill/>
          <a:ln/>
        </p:spPr>
        <p:txBody>
          <a:bodyPr wrap="square" lIns="0" tIns="0" rIns="0" bIns="0" rtlCol="0" anchor="t"/>
          <a:lstStyle/>
          <a:p>
            <a:pPr indent="0" marL="0">
              <a:buNone/>
            </a:pPr>
            <a:r>
              <a:rPr lang="en-US" sz="1600" b="1" dirty="0">
                <a:solidFill>
                  <a:schemeClr val="tx1"/>
                </a:solidFill>
              </a:rPr>
              <a:t>Answer, in order</a:t>
            </a:r>
            <a:endParaRPr lang="en-US" sz="1600" dirty="0"/>
          </a:p>
        </p:txBody>
      </p:sp>
      <p:sp>
        <p:nvSpPr>
          <p:cNvPr id="11" name="Text 8"/>
          <p:cNvSpPr txBox="1"/>
          <p:nvPr/>
        </p:nvSpPr>
        <p:spPr>
          <a:xfrm>
            <a:off x="6409944" y="2359152"/>
            <a:ext cx="5029200" cy="2807208"/>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tx2"/>
                </a:solidFill>
              </a:rPr>
              <a:t>Which change types may it approve alone, and which always go to a person?</a:t>
            </a:r>
            <a:endParaRPr lang="en-US" sz="1400" dirty="0"/>
          </a:p>
          <a:p>
            <a:pPr marL="342900" indent="-342900">
              <a:spcAft>
                <a:spcPts val="400"/>
              </a:spcAft>
              <a:buSzPct val="100000"/>
              <a:buFont typeface="+mj-lt"/>
              <a:buAutoNum type="arabicPeriod" startAt="1"/>
            </a:pPr>
            <a:r>
              <a:rPr lang="en-US" sz="1400" dirty="0">
                <a:solidFill>
                  <a:schemeClr val="tx2"/>
                </a:solidFill>
              </a:rPr>
              <a:t>Which data sources must it have, and which KPI would you compute first to find out whether they are good enough?</a:t>
            </a:r>
            <a:endParaRPr lang="en-US" sz="1400" dirty="0"/>
          </a:p>
          <a:p>
            <a:pPr marL="342900" indent="-342900">
              <a:spcAft>
                <a:spcPts val="400"/>
              </a:spcAft>
              <a:buSzPct val="100000"/>
              <a:buFont typeface="+mj-lt"/>
              <a:buAutoNum type="arabicPeriod" startAt="1"/>
            </a:pPr>
            <a:r>
              <a:rPr lang="en-US" sz="1400" dirty="0">
                <a:solidFill>
                  <a:schemeClr val="tx2"/>
                </a:solidFill>
              </a:rPr>
              <a:t>Success metrics for a 90-day pilot: measured how, against what baseline?</a:t>
            </a:r>
            <a:endParaRPr lang="en-US" sz="1400" dirty="0"/>
          </a:p>
          <a:p>
            <a:pPr marL="342900" indent="-342900">
              <a:spcAft>
                <a:spcPts val="400"/>
              </a:spcAft>
              <a:buSzPct val="100000"/>
              <a:buFont typeface="+mj-lt"/>
              <a:buAutoNum type="arabicPeriod" startAt="1"/>
            </a:pPr>
            <a:r>
              <a:rPr lang="en-US" sz="1400" dirty="0">
                <a:solidFill>
                  <a:schemeClr val="tx2"/>
                </a:solidFill>
              </a:rPr>
              <a:t>What happens when the agent is unsure?</a:t>
            </a:r>
            <a:endParaRPr lang="en-US" sz="1400" dirty="0"/>
          </a:p>
        </p:txBody>
      </p:sp>
      <p:sp>
        <p:nvSpPr>
          <p:cNvPr id="12" name="Text 9"/>
          <p:cNvSpPr txBox="1"/>
          <p:nvPr/>
        </p:nvSpPr>
        <p:spPr>
          <a:xfrm>
            <a:off x="548640" y="5532120"/>
            <a:ext cx="11091672" cy="640080"/>
          </a:xfrm>
          <a:prstGeom prst="rect">
            <a:avLst/>
          </a:prstGeom>
          <a:noFill/>
          <a:ln/>
        </p:spPr>
        <p:txBody>
          <a:bodyPr wrap="square" lIns="0" tIns="0" rIns="0" bIns="0" rtlCol="0" anchor="t"/>
          <a:lstStyle/>
          <a:p>
            <a:pPr indent="0" marL="0">
              <a:buNone/>
            </a:pPr>
            <a:r>
              <a:rPr lang="en-US" sz="1400" dirty="0">
                <a:solidFill>
                  <a:schemeClr val="tx2"/>
                </a:solidFill>
              </a:rPr>
              <a:t>These are the same questions the governance document in Module 8 asks about your own program.</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179"/>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ITSM Agents Analytics">
  <a:themeElements>
    <a:clrScheme name="ITSM Agents Analytics">
      <a:dk1>
        <a:srgbClr val="14213D"/>
      </a:dk1>
      <a:lt1>
        <a:srgbClr val="F7F6F2"/>
      </a:lt1>
      <a:dk2>
        <a:srgbClr val="4A5568"/>
      </a:dk2>
      <a:lt2>
        <a:srgbClr val="FFFFFF"/>
      </a:lt2>
      <a:accent1>
        <a:srgbClr val="0E7C7B"/>
      </a:accent1>
      <a:accent2>
        <a:srgbClr val="C2571A"/>
      </a:accent2>
      <a:accent3>
        <a:srgbClr val="E6F2F1"/>
      </a:accent3>
      <a:accent4>
        <a:srgbClr val="BFD8D5"/>
      </a:accent4>
      <a:accent5>
        <a:srgbClr val="7FC8C6"/>
      </a:accent5>
      <a:accent6>
        <a:srgbClr val="1F2F55"/>
      </a:accent6>
      <a:hlink>
        <a:srgbClr val="0E7C7B"/>
      </a:hlink>
      <a:folHlink>
        <a:srgbClr val="C2571A"/>
      </a:folHlink>
    </a:clrScheme>
    <a:fontScheme name="ITSM Agents Analytic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ITSM, Agents, and Analytics</dc:title>
  <dc:subject>PptxGenJS Presentation</dc:subject>
  <dc:creator>ITSCM 451Z</dc:creator>
  <cp:lastModifiedBy>ITSCM 451Z</cp:lastModifiedBy>
  <cp:revision>1</cp:revision>
  <dcterms:created xsi:type="dcterms:W3CDTF">2026-10-27T18:07:57Z</dcterms:created>
  <dcterms:modified xsi:type="dcterms:W3CDTF">2026-10-27T18:07:57Z</dcterms:modified>
</cp:coreProperties>
</file>